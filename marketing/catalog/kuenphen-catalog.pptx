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uenphen Beauty Spa — Service Catalog" id="{6358e086-2f00-c857-2850-8ab5a04d336c}">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DFCF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Left">
    <p:bg>
      <p:bgPr>
        <a:solidFill>
          <a:srgbClr val="FDFCFA"/>
        </a:solidFill>
      </p:bgPr>
    </p:bg>
    <p:spTree>
      <p:nvGrpSpPr>
        <p:cNvPr id="1" name=""/>
        <p:cNvGrpSpPr/>
        <p:nvPr/>
      </p:nvGrpSpPr>
      <p:grpSpPr>
        <a:xfrm>
          <a:off x="0" y="0"/>
          <a:ext cx="0" cy="0"/>
          <a:chOff x="0" y="0"/>
          <a:chExt cx="0" cy="0"/>
        </a:xfrm>
      </p:grpSpPr>
      <p:sp>
        <p:nvSpPr>
          <p:cNvPr id="2" name="Shape 0"/>
          <p:cNvSpPr/>
          <p:nvPr/>
        </p:nvSpPr>
        <p:spPr>
          <a:xfrm>
            <a:off x="640080" y="6355080"/>
            <a:ext cx="10911535" cy="0"/>
          </a:xfrm>
          <a:prstGeom prst="line">
            <a:avLst/>
          </a:prstGeom>
          <a:noFill/>
          <a:ln w="12700">
            <a:solidFill>
              <a:srgbClr val="F2EDE4"/>
            </a:solidFill>
            <a:prstDash val="solid"/>
          </a:ln>
        </p:spPr>
      </p:sp>
      <p:sp>
        <p:nvSpPr>
          <p:cNvPr id="3" name="Text 1"/>
          <p:cNvSpPr/>
          <p:nvPr>
            <p:ph idx="101" type="body" hasCustomPrompt="1"/>
          </p:nvPr>
        </p:nvSpPr>
        <p:spPr>
          <a:xfrm>
            <a:off x="640080" y="6419088"/>
            <a:ext cx="7315200" cy="274320"/>
          </a:xfrm>
          <a:prstGeom prst="rect">
            <a:avLst/>
          </a:prstGeom>
          <a:noFill/>
          <a:ln/>
        </p:spPr>
        <p:txBody>
          <a:bodyPr wrap="square" rtlCol="0"/>
          <a:lstStyle>
            <a:lvl1pPr indent="0" marL="0">
              <a:buNone/>
              <a:defRPr lang="en-US" sz="900" dirty="0">
                <a:solidFill>
                  <a:srgbClr val="3A3A38"/>
                </a:solidFill>
                <a:latin typeface="Calibri" pitchFamily="34" charset="0"/>
                <a:ea typeface="Calibri" pitchFamily="34" charset="-122"/>
                <a:cs typeface="Calibri" pitchFamily="34" charset="-120"/>
              </a:defRPr>
            </a:lvl1pPr>
          </a:lstStyle>
          <a:p>
            <a:pPr indent="0" marL="0">
              <a:buNone/>
            </a:pPr>
            <a:r>
              <a:rPr lang="en-US" sz="900" dirty="0">
                <a:solidFill>
                  <a:srgbClr val="3A3A38"/>
                </a:solidFill>
                <a:latin typeface="Calibri" pitchFamily="34" charset="0"/>
                <a:ea typeface="Calibri" pitchFamily="34" charset="-122"/>
                <a:cs typeface="Calibri" pitchFamily="34" charset="-120"/>
              </a:rPr>
              <a:t>Oli Building, 2nd Floor, near NNC Sales  |  kuenphenbeautyspa.com  |  +975 7770 6348</a:t>
            </a:r>
            <a:endParaRPr lang="en-US" sz="900" dirty="0"/>
          </a:p>
        </p:txBody>
      </p:sp>
      <p:sp>
        <p:nvSpPr>
          <p:cNvPr id="4" name="Text 1"/>
          <p:cNvSpPr/>
          <p:nvPr>
            <p:ph idx="102" type="body" hasCustomPrompt="1"/>
          </p:nvPr>
        </p:nvSpPr>
        <p:spPr>
          <a:xfrm>
            <a:off x="8808415" y="6419088"/>
            <a:ext cx="2743200" cy="274320"/>
          </a:xfrm>
          <a:prstGeom prst="rect">
            <a:avLst/>
          </a:prstGeom>
          <a:noFill/>
          <a:ln/>
        </p:spPr>
        <p:txBody>
          <a:bodyPr wrap="square" rtlCol="0"/>
          <a:lstStyle>
            <a:lvl1pPr algn="r" indent="0" marL="0">
              <a:buNone/>
              <a:defRPr lang="en-US" sz="900" dirty="0">
                <a:solidFill>
                  <a:srgbClr val="86691A"/>
                </a:solidFill>
                <a:latin typeface="Calibri" pitchFamily="34" charset="0"/>
                <a:ea typeface="Calibri" pitchFamily="34" charset="-122"/>
                <a:cs typeface="Calibri" pitchFamily="34" charset="-120"/>
              </a:defRPr>
            </a:lvl1pPr>
          </a:lstStyle>
          <a:p>
            <a:pPr algn="r" indent="0" marL="0">
              <a:buNone/>
            </a:pPr>
            <a:r>
              <a:rPr lang="en-US" sz="900" dirty="0">
                <a:solidFill>
                  <a:srgbClr val="86691A"/>
                </a:solidFill>
                <a:latin typeface="Calibri" pitchFamily="34" charset="0"/>
                <a:ea typeface="Calibri" pitchFamily="34" charset="-122"/>
                <a:cs typeface="Calibri" pitchFamily="34" charset="-120"/>
              </a:rPr>
              <a:t>Kuenphen Beauty Spa</a:t>
            </a:r>
            <a:endParaRPr lang="en-US" sz="900" dirty="0"/>
          </a:p>
        </p:txBody>
      </p:sp>
      <p:sp>
        <p:nvSpPr>
          <p:cNvPr id="5" name="Text 1"/>
          <p:cNvSpPr/>
          <p:nvPr>
            <p:ph idx="103" type="body" hasCustomPrompt="1"/>
          </p:nvPr>
        </p:nvSpPr>
        <p:spPr>
          <a:xfrm>
            <a:off x="6309360" y="1005840"/>
            <a:ext cx="5212080" cy="274320"/>
          </a:xfrm>
          <a:prstGeom prst="rect">
            <a:avLst/>
          </a:prstGeom>
          <a:noFill/>
          <a:ln/>
        </p:spPr>
        <p:txBody>
          <a:bodyPr wrap="square" rtlCol="0"/>
          <a:lstStyle>
            <a:lvl1pPr indent="0" marL="0">
              <a:buNone/>
              <a:defRPr lang="en-US" sz="1100" b="1" spc="300" kern="0" dirty="0">
                <a:solidFill>
                  <a:srgbClr val="86691A"/>
                </a:solidFill>
                <a:latin typeface="Calibri" pitchFamily="34" charset="0"/>
                <a:ea typeface="Calibri" pitchFamily="34" charset="-122"/>
                <a:cs typeface="Calibri" pitchFamily="34" charset="-120"/>
              </a:defRPr>
            </a:lvl1pPr>
          </a:lstStyle>
          <a:p>
            <a:pPr indent="0" marL="0">
              <a:buNone/>
            </a:pPr>
            <a:r>
              <a:rPr lang="en-US" sz="1100" b="1" spc="300" kern="0" dirty="0">
                <a:solidFill>
                  <a:srgbClr val="86691A"/>
                </a:solidFill>
                <a:latin typeface="Calibri" pitchFamily="34" charset="0"/>
                <a:ea typeface="Calibri" pitchFamily="34" charset="-122"/>
                <a:cs typeface="Calibri" pitchFamily="34" charset="-120"/>
              </a:rPr>
              <a:t>SPA MENU</a:t>
            </a:r>
            <a:endParaRPr lang="en-US" sz="1100" dirty="0"/>
          </a:p>
        </p:txBody>
      </p:sp>
      <p:sp>
        <p:nvSpPr>
          <p:cNvPr id="6" name="Text 1"/>
          <p:cNvSpPr/>
          <p:nvPr>
            <p:ph idx="104" type="title" hasCustomPrompt="1"/>
          </p:nvPr>
        </p:nvSpPr>
        <p:spPr>
          <a:xfrm>
            <a:off x="6309360" y="1280160"/>
            <a:ext cx="5212080" cy="685800"/>
          </a:xfrm>
          <a:prstGeom prst="rect">
            <a:avLst/>
          </a:prstGeom>
          <a:noFill/>
          <a:ln/>
        </p:spPr>
        <p:txBody>
          <a:bodyPr wrap="square" rtlCol="0"/>
          <a:lstStyle>
            <a:lvl1pPr indent="0" marL="0">
              <a:buNone/>
              <a:defRPr lang="en-US" sz="4000" dirty="0">
                <a:solidFill>
                  <a:srgbClr val="1B1A18"/>
                </a:solidFill>
                <a:latin typeface="Cambria" pitchFamily="34" charset="0"/>
                <a:ea typeface="Cambria" pitchFamily="34" charset="-122"/>
                <a:cs typeface="Cambria" pitchFamily="34" charset="-120"/>
              </a:defRPr>
            </a:lvl1pPr>
          </a:lstStyle>
          <a:p>
            <a:pPr indent="0" marL="0">
              <a:buNone/>
            </a:pPr>
            <a:r>
              <a:rPr lang="en-US" sz="4000" dirty="0">
                <a:solidFill>
                  <a:srgbClr val="1B1A18"/>
                </a:solidFill>
                <a:latin typeface="Cambria" pitchFamily="34" charset="0"/>
                <a:ea typeface="Cambria" pitchFamily="34" charset="-122"/>
                <a:cs typeface="Cambria" pitchFamily="34" charset="-120"/>
              </a:rPr>
              <a:t>Category</a:t>
            </a:r>
            <a:endParaRPr lang="en-US" sz="4000" dirty="0"/>
          </a:p>
        </p:txBody>
      </p:sp>
      <p:sp>
        <p:nvSpPr>
          <p:cNvPr id="7" name="Text 1"/>
          <p:cNvSpPr/>
          <p:nvPr>
            <p:ph idx="105" type="body" hasCustomPrompt="1"/>
          </p:nvPr>
        </p:nvSpPr>
        <p:spPr>
          <a:xfrm>
            <a:off x="6309360" y="1965960"/>
            <a:ext cx="5212080" cy="411480"/>
          </a:xfrm>
          <a:prstGeom prst="rect">
            <a:avLst/>
          </a:prstGeom>
          <a:noFill/>
          <a:ln/>
        </p:spPr>
        <p:txBody>
          <a:bodyPr wrap="square" rtlCol="0"/>
          <a:lstStyle>
            <a:lvl1pPr indent="0" marL="0">
              <a:buNone/>
              <a:defRPr lang="en-US" sz="1500" i="1" dirty="0">
                <a:solidFill>
                  <a:srgbClr val="3A3A38"/>
                </a:solidFill>
                <a:latin typeface="Cambria" pitchFamily="34" charset="0"/>
                <a:ea typeface="Cambria" pitchFamily="34" charset="-122"/>
                <a:cs typeface="Cambria" pitchFamily="34" charset="-120"/>
              </a:defRPr>
            </a:lvl1pPr>
          </a:lstStyle>
          <a:p>
            <a:pPr indent="0" marL="0">
              <a:buNone/>
            </a:pPr>
            <a:r>
              <a:rPr lang="en-US" sz="1500" i="1" dirty="0">
                <a:solidFill>
                  <a:srgbClr val="3A3A38"/>
                </a:solidFill>
                <a:latin typeface="Cambria" pitchFamily="34" charset="0"/>
                <a:ea typeface="Cambria" pitchFamily="34" charset="-122"/>
                <a:cs typeface="Cambria" pitchFamily="34" charset="-120"/>
              </a:rPr>
              <a:t>Description</a:t>
            </a:r>
            <a:endParaRPr lang="en-US" sz="1500" dirty="0"/>
          </a:p>
        </p:txBody>
      </p:sp>
      <p:sp>
        <p:nvSpPr>
          <p:cNvPr id="8" name="Text 1"/>
          <p:cNvSpPr/>
          <p:nvPr>
            <p:ph idx="106" hasCustomPrompt="1"/>
          </p:nvPr>
        </p:nvSpPr>
        <p:spPr>
          <a:xfrm>
            <a:off x="548640" y="1143000"/>
            <a:ext cx="5212080" cy="521208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Right">
    <p:bg>
      <p:bgPr>
        <a:solidFill>
          <a:srgbClr val="FDFCFA"/>
        </a:solidFill>
      </p:bgPr>
    </p:bg>
    <p:spTree>
      <p:nvGrpSpPr>
        <p:cNvPr id="1" name=""/>
        <p:cNvGrpSpPr/>
        <p:nvPr/>
      </p:nvGrpSpPr>
      <p:grpSpPr>
        <a:xfrm>
          <a:off x="0" y="0"/>
          <a:ext cx="0" cy="0"/>
          <a:chOff x="0" y="0"/>
          <a:chExt cx="0" cy="0"/>
        </a:xfrm>
      </p:grpSpPr>
      <p:sp>
        <p:nvSpPr>
          <p:cNvPr id="2" name="Shape 0"/>
          <p:cNvSpPr/>
          <p:nvPr/>
        </p:nvSpPr>
        <p:spPr>
          <a:xfrm>
            <a:off x="640080" y="6355080"/>
            <a:ext cx="10911535" cy="0"/>
          </a:xfrm>
          <a:prstGeom prst="line">
            <a:avLst/>
          </a:prstGeom>
          <a:noFill/>
          <a:ln w="12700">
            <a:solidFill>
              <a:srgbClr val="F2EDE4"/>
            </a:solidFill>
            <a:prstDash val="solid"/>
          </a:ln>
        </p:spPr>
      </p:sp>
      <p:sp>
        <p:nvSpPr>
          <p:cNvPr id="3" name="Text 1"/>
          <p:cNvSpPr/>
          <p:nvPr>
            <p:ph idx="101" type="body" hasCustomPrompt="1"/>
          </p:nvPr>
        </p:nvSpPr>
        <p:spPr>
          <a:xfrm>
            <a:off x="640080" y="6419088"/>
            <a:ext cx="7315200" cy="274320"/>
          </a:xfrm>
          <a:prstGeom prst="rect">
            <a:avLst/>
          </a:prstGeom>
          <a:noFill/>
          <a:ln/>
        </p:spPr>
        <p:txBody>
          <a:bodyPr wrap="square" rtlCol="0"/>
          <a:lstStyle>
            <a:lvl1pPr indent="0" marL="0">
              <a:buNone/>
              <a:defRPr lang="en-US" sz="900" dirty="0">
                <a:solidFill>
                  <a:srgbClr val="3A3A38"/>
                </a:solidFill>
                <a:latin typeface="Calibri" pitchFamily="34" charset="0"/>
                <a:ea typeface="Calibri" pitchFamily="34" charset="-122"/>
                <a:cs typeface="Calibri" pitchFamily="34" charset="-120"/>
              </a:defRPr>
            </a:lvl1pPr>
          </a:lstStyle>
          <a:p>
            <a:pPr indent="0" marL="0">
              <a:buNone/>
            </a:pPr>
            <a:r>
              <a:rPr lang="en-US" sz="900" dirty="0">
                <a:solidFill>
                  <a:srgbClr val="3A3A38"/>
                </a:solidFill>
                <a:latin typeface="Calibri" pitchFamily="34" charset="0"/>
                <a:ea typeface="Calibri" pitchFamily="34" charset="-122"/>
                <a:cs typeface="Calibri" pitchFamily="34" charset="-120"/>
              </a:rPr>
              <a:t>Oli Building, 2nd Floor, near NNC Sales  |  kuenphenbeautyspa.com  |  +975 7770 6348</a:t>
            </a:r>
            <a:endParaRPr lang="en-US" sz="900" dirty="0"/>
          </a:p>
        </p:txBody>
      </p:sp>
      <p:sp>
        <p:nvSpPr>
          <p:cNvPr id="4" name="Text 1"/>
          <p:cNvSpPr/>
          <p:nvPr>
            <p:ph idx="102" type="body" hasCustomPrompt="1"/>
          </p:nvPr>
        </p:nvSpPr>
        <p:spPr>
          <a:xfrm>
            <a:off x="8808415" y="6419088"/>
            <a:ext cx="2743200" cy="274320"/>
          </a:xfrm>
          <a:prstGeom prst="rect">
            <a:avLst/>
          </a:prstGeom>
          <a:noFill/>
          <a:ln/>
        </p:spPr>
        <p:txBody>
          <a:bodyPr wrap="square" rtlCol="0"/>
          <a:lstStyle>
            <a:lvl1pPr algn="r" indent="0" marL="0">
              <a:buNone/>
              <a:defRPr lang="en-US" sz="900" dirty="0">
                <a:solidFill>
                  <a:srgbClr val="86691A"/>
                </a:solidFill>
                <a:latin typeface="Calibri" pitchFamily="34" charset="0"/>
                <a:ea typeface="Calibri" pitchFamily="34" charset="-122"/>
                <a:cs typeface="Calibri" pitchFamily="34" charset="-120"/>
              </a:defRPr>
            </a:lvl1pPr>
          </a:lstStyle>
          <a:p>
            <a:pPr algn="r" indent="0" marL="0">
              <a:buNone/>
            </a:pPr>
            <a:r>
              <a:rPr lang="en-US" sz="900" dirty="0">
                <a:solidFill>
                  <a:srgbClr val="86691A"/>
                </a:solidFill>
                <a:latin typeface="Calibri" pitchFamily="34" charset="0"/>
                <a:ea typeface="Calibri" pitchFamily="34" charset="-122"/>
                <a:cs typeface="Calibri" pitchFamily="34" charset="-120"/>
              </a:rPr>
              <a:t>Kuenphen Beauty Spa</a:t>
            </a:r>
            <a:endParaRPr lang="en-US" sz="900" dirty="0"/>
          </a:p>
        </p:txBody>
      </p:sp>
      <p:sp>
        <p:nvSpPr>
          <p:cNvPr id="5" name="Text 1"/>
          <p:cNvSpPr/>
          <p:nvPr>
            <p:ph idx="103" type="body" hasCustomPrompt="1"/>
          </p:nvPr>
        </p:nvSpPr>
        <p:spPr>
          <a:xfrm>
            <a:off x="640080" y="1005840"/>
            <a:ext cx="5212080" cy="274320"/>
          </a:xfrm>
          <a:prstGeom prst="rect">
            <a:avLst/>
          </a:prstGeom>
          <a:noFill/>
          <a:ln/>
        </p:spPr>
        <p:txBody>
          <a:bodyPr wrap="square" rtlCol="0"/>
          <a:lstStyle>
            <a:lvl1pPr indent="0" marL="0">
              <a:buNone/>
              <a:defRPr lang="en-US" sz="1100" b="1" spc="300" kern="0" dirty="0">
                <a:solidFill>
                  <a:srgbClr val="86691A"/>
                </a:solidFill>
                <a:latin typeface="Calibri" pitchFamily="34" charset="0"/>
                <a:ea typeface="Calibri" pitchFamily="34" charset="-122"/>
                <a:cs typeface="Calibri" pitchFamily="34" charset="-120"/>
              </a:defRPr>
            </a:lvl1pPr>
          </a:lstStyle>
          <a:p>
            <a:pPr indent="0" marL="0">
              <a:buNone/>
            </a:pPr>
            <a:r>
              <a:rPr lang="en-US" sz="1100" b="1" spc="300" kern="0" dirty="0">
                <a:solidFill>
                  <a:srgbClr val="86691A"/>
                </a:solidFill>
                <a:latin typeface="Calibri" pitchFamily="34" charset="0"/>
                <a:ea typeface="Calibri" pitchFamily="34" charset="-122"/>
                <a:cs typeface="Calibri" pitchFamily="34" charset="-120"/>
              </a:rPr>
              <a:t>SPA MENU</a:t>
            </a:r>
            <a:endParaRPr lang="en-US" sz="1100" dirty="0"/>
          </a:p>
        </p:txBody>
      </p:sp>
      <p:sp>
        <p:nvSpPr>
          <p:cNvPr id="6" name="Text 1"/>
          <p:cNvSpPr/>
          <p:nvPr>
            <p:ph idx="104" type="title" hasCustomPrompt="1"/>
          </p:nvPr>
        </p:nvSpPr>
        <p:spPr>
          <a:xfrm>
            <a:off x="640080" y="1280160"/>
            <a:ext cx="5212080" cy="685800"/>
          </a:xfrm>
          <a:prstGeom prst="rect">
            <a:avLst/>
          </a:prstGeom>
          <a:noFill/>
          <a:ln/>
        </p:spPr>
        <p:txBody>
          <a:bodyPr wrap="square" rtlCol="0"/>
          <a:lstStyle>
            <a:lvl1pPr indent="0" marL="0">
              <a:buNone/>
              <a:defRPr lang="en-US" sz="4000" dirty="0">
                <a:solidFill>
                  <a:srgbClr val="1B1A18"/>
                </a:solidFill>
                <a:latin typeface="Cambria" pitchFamily="34" charset="0"/>
                <a:ea typeface="Cambria" pitchFamily="34" charset="-122"/>
                <a:cs typeface="Cambria" pitchFamily="34" charset="-120"/>
              </a:defRPr>
            </a:lvl1pPr>
          </a:lstStyle>
          <a:p>
            <a:pPr indent="0" marL="0">
              <a:buNone/>
            </a:pPr>
            <a:r>
              <a:rPr lang="en-US" sz="4000" dirty="0">
                <a:solidFill>
                  <a:srgbClr val="1B1A18"/>
                </a:solidFill>
                <a:latin typeface="Cambria" pitchFamily="34" charset="0"/>
                <a:ea typeface="Cambria" pitchFamily="34" charset="-122"/>
                <a:cs typeface="Cambria" pitchFamily="34" charset="-120"/>
              </a:rPr>
              <a:t>Category</a:t>
            </a:r>
            <a:endParaRPr lang="en-US" sz="4000" dirty="0"/>
          </a:p>
        </p:txBody>
      </p:sp>
      <p:sp>
        <p:nvSpPr>
          <p:cNvPr id="7" name="Text 1"/>
          <p:cNvSpPr/>
          <p:nvPr>
            <p:ph idx="105" type="body" hasCustomPrompt="1"/>
          </p:nvPr>
        </p:nvSpPr>
        <p:spPr>
          <a:xfrm>
            <a:off x="640080" y="1965960"/>
            <a:ext cx="5212080" cy="411480"/>
          </a:xfrm>
          <a:prstGeom prst="rect">
            <a:avLst/>
          </a:prstGeom>
          <a:noFill/>
          <a:ln/>
        </p:spPr>
        <p:txBody>
          <a:bodyPr wrap="square" rtlCol="0"/>
          <a:lstStyle>
            <a:lvl1pPr indent="0" marL="0">
              <a:buNone/>
              <a:defRPr lang="en-US" sz="1500" i="1" dirty="0">
                <a:solidFill>
                  <a:srgbClr val="3A3A38"/>
                </a:solidFill>
                <a:latin typeface="Cambria" pitchFamily="34" charset="0"/>
                <a:ea typeface="Cambria" pitchFamily="34" charset="-122"/>
                <a:cs typeface="Cambria" pitchFamily="34" charset="-120"/>
              </a:defRPr>
            </a:lvl1pPr>
          </a:lstStyle>
          <a:p>
            <a:pPr indent="0" marL="0">
              <a:buNone/>
            </a:pPr>
            <a:r>
              <a:rPr lang="en-US" sz="1500" i="1" dirty="0">
                <a:solidFill>
                  <a:srgbClr val="3A3A38"/>
                </a:solidFill>
                <a:latin typeface="Cambria" pitchFamily="34" charset="0"/>
                <a:ea typeface="Cambria" pitchFamily="34" charset="-122"/>
                <a:cs typeface="Cambria" pitchFamily="34" charset="-120"/>
              </a:rPr>
              <a:t>Description</a:t>
            </a:r>
            <a:endParaRPr lang="en-US" sz="1500" dirty="0"/>
          </a:p>
        </p:txBody>
      </p:sp>
      <p:sp>
        <p:nvSpPr>
          <p:cNvPr id="8" name="Text 1"/>
          <p:cNvSpPr/>
          <p:nvPr>
            <p:ph idx="106" hasCustomPrompt="1"/>
          </p:nvPr>
        </p:nvSpPr>
        <p:spPr>
          <a:xfrm>
            <a:off x="6400800" y="1143000"/>
            <a:ext cx="5212080" cy="521208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isit">
    <p:bg>
      <p:bgPr>
        <a:solidFill>
          <a:srgbClr val="FDFCFA"/>
        </a:solidFill>
      </p:bgPr>
    </p:bg>
    <p:spTree>
      <p:nvGrpSpPr>
        <p:cNvPr id="1" name=""/>
        <p:cNvGrpSpPr/>
        <p:nvPr/>
      </p:nvGrpSpPr>
      <p:grpSpPr>
        <a:xfrm>
          <a:off x="0" y="0"/>
          <a:ext cx="0" cy="0"/>
          <a:chOff x="0" y="0"/>
          <a:chExt cx="0" cy="0"/>
        </a:xfrm>
      </p:grpSpPr>
      <p:sp>
        <p:nvSpPr>
          <p:cNvPr id="2" name="Shape 0"/>
          <p:cNvSpPr/>
          <p:nvPr/>
        </p:nvSpPr>
        <p:spPr>
          <a:xfrm>
            <a:off x="640080" y="6355080"/>
            <a:ext cx="10911535" cy="0"/>
          </a:xfrm>
          <a:prstGeom prst="line">
            <a:avLst/>
          </a:prstGeom>
          <a:noFill/>
          <a:ln w="12700">
            <a:solidFill>
              <a:srgbClr val="F2EDE4"/>
            </a:solidFill>
            <a:prstDash val="solid"/>
          </a:ln>
        </p:spPr>
      </p:sp>
      <p:sp>
        <p:nvSpPr>
          <p:cNvPr id="3" name="Text 1"/>
          <p:cNvSpPr/>
          <p:nvPr>
            <p:ph idx="101" type="body" hasCustomPrompt="1"/>
          </p:nvPr>
        </p:nvSpPr>
        <p:spPr>
          <a:xfrm>
            <a:off x="640080" y="6419088"/>
            <a:ext cx="7315200" cy="274320"/>
          </a:xfrm>
          <a:prstGeom prst="rect">
            <a:avLst/>
          </a:prstGeom>
          <a:noFill/>
          <a:ln/>
        </p:spPr>
        <p:txBody>
          <a:bodyPr wrap="square" rtlCol="0"/>
          <a:lstStyle>
            <a:lvl1pPr indent="0" marL="0">
              <a:buNone/>
              <a:defRPr lang="en-US" sz="900" dirty="0">
                <a:solidFill>
                  <a:srgbClr val="3A3A38"/>
                </a:solidFill>
                <a:latin typeface="Calibri" pitchFamily="34" charset="0"/>
                <a:ea typeface="Calibri" pitchFamily="34" charset="-122"/>
                <a:cs typeface="Calibri" pitchFamily="34" charset="-120"/>
              </a:defRPr>
            </a:lvl1pPr>
          </a:lstStyle>
          <a:p>
            <a:pPr indent="0" marL="0">
              <a:buNone/>
            </a:pPr>
            <a:r>
              <a:rPr lang="en-US" sz="900" dirty="0">
                <a:solidFill>
                  <a:srgbClr val="3A3A38"/>
                </a:solidFill>
                <a:latin typeface="Calibri" pitchFamily="34" charset="0"/>
                <a:ea typeface="Calibri" pitchFamily="34" charset="-122"/>
                <a:cs typeface="Calibri" pitchFamily="34" charset="-120"/>
              </a:rPr>
              <a:t>Oli Building, 2nd Floor, near NNC Sales  |  kuenphenbeautyspa.com  |  +975 7770 6348</a:t>
            </a:r>
            <a:endParaRPr lang="en-US" sz="900" dirty="0"/>
          </a:p>
        </p:txBody>
      </p:sp>
      <p:sp>
        <p:nvSpPr>
          <p:cNvPr id="4" name="Text 1"/>
          <p:cNvSpPr/>
          <p:nvPr>
            <p:ph idx="102" type="body" hasCustomPrompt="1"/>
          </p:nvPr>
        </p:nvSpPr>
        <p:spPr>
          <a:xfrm>
            <a:off x="8808415" y="6419088"/>
            <a:ext cx="2743200" cy="274320"/>
          </a:xfrm>
          <a:prstGeom prst="rect">
            <a:avLst/>
          </a:prstGeom>
          <a:noFill/>
          <a:ln/>
        </p:spPr>
        <p:txBody>
          <a:bodyPr wrap="square" rtlCol="0"/>
          <a:lstStyle>
            <a:lvl1pPr algn="r" indent="0" marL="0">
              <a:buNone/>
              <a:defRPr lang="en-US" sz="900" dirty="0">
                <a:solidFill>
                  <a:srgbClr val="86691A"/>
                </a:solidFill>
                <a:latin typeface="Calibri" pitchFamily="34" charset="0"/>
                <a:ea typeface="Calibri" pitchFamily="34" charset="-122"/>
                <a:cs typeface="Calibri" pitchFamily="34" charset="-120"/>
              </a:defRPr>
            </a:lvl1pPr>
          </a:lstStyle>
          <a:p>
            <a:pPr algn="r" indent="0" marL="0">
              <a:buNone/>
            </a:pPr>
            <a:r>
              <a:rPr lang="en-US" sz="900" dirty="0">
                <a:solidFill>
                  <a:srgbClr val="86691A"/>
                </a:solidFill>
                <a:latin typeface="Calibri" pitchFamily="34" charset="0"/>
                <a:ea typeface="Calibri" pitchFamily="34" charset="-122"/>
                <a:cs typeface="Calibri" pitchFamily="34" charset="-120"/>
              </a:rPr>
              <a:t>Visit Us</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5.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265615" y="-2011680"/>
            <a:ext cx="5029200" cy="5029200"/>
          </a:xfrm>
          <a:prstGeom prst="ellipse">
            <a:avLst/>
          </a:prstGeom>
          <a:solidFill>
            <a:srgbClr val="F1DCD6">
              <a:alpha val="45000"/>
            </a:srgbClr>
          </a:solidFill>
          <a:ln/>
        </p:spPr>
      </p:sp>
      <p:sp>
        <p:nvSpPr>
          <p:cNvPr id="3" name="Shape 1"/>
          <p:cNvSpPr/>
          <p:nvPr/>
        </p:nvSpPr>
        <p:spPr>
          <a:xfrm>
            <a:off x="-2194560" y="4480560"/>
            <a:ext cx="4206240" cy="4206240"/>
          </a:xfrm>
          <a:prstGeom prst="ellipse">
            <a:avLst/>
          </a:prstGeom>
          <a:solidFill>
            <a:srgbClr val="F5EDCE">
              <a:alpha val="55000"/>
            </a:srgbClr>
          </a:solidFill>
          <a:ln/>
        </p:spPr>
      </p:sp>
      <p:pic>
        <p:nvPicPr>
          <p:cNvPr id="4" name="Image 0" descr="/tmp/claude-0/-home-user-KBSpa/fba49096-d8c8-5016-bfa2-c752ed8a675b/scratchpad/brochure/photos/logo.png">    </p:cNvPr>
          <p:cNvPicPr>
            <a:picLocks noChangeAspect="1"/>
          </p:cNvPicPr>
          <p:nvPr/>
        </p:nvPicPr>
        <p:blipFill>
          <a:blip r:embed="rId1"/>
          <a:stretch>
            <a:fillRect/>
          </a:stretch>
        </p:blipFill>
        <p:spPr>
          <a:xfrm>
            <a:off x="5592928" y="320040"/>
            <a:ext cx="1005840" cy="1005840"/>
          </a:xfrm>
          <a:prstGeom prst="rect">
            <a:avLst/>
          </a:prstGeom>
        </p:spPr>
      </p:pic>
      <p:sp>
        <p:nvSpPr>
          <p:cNvPr id="5" name="Text 2"/>
          <p:cNvSpPr txBox="1"/>
          <p:nvPr/>
        </p:nvSpPr>
        <p:spPr>
          <a:xfrm>
            <a:off x="0" y="1508760"/>
            <a:ext cx="12191695" cy="685800"/>
          </a:xfrm>
          <a:prstGeom prst="rect">
            <a:avLst/>
          </a:prstGeom>
          <a:noFill/>
          <a:ln/>
        </p:spPr>
        <p:txBody>
          <a:bodyPr wrap="square" lIns="0" tIns="0" rIns="0" bIns="0" rtlCol="0" anchor="ctr"/>
          <a:lstStyle/>
          <a:p>
            <a:pPr algn="ctr" indent="0" marL="0">
              <a:buNone/>
            </a:pPr>
            <a:r>
              <a:rPr lang="en-US" sz="4000" dirty="0">
                <a:solidFill>
                  <a:srgbClr val="86691A"/>
                </a:solidFill>
                <a:latin typeface="Cambria" pitchFamily="34" charset="0"/>
                <a:ea typeface="Cambria" pitchFamily="34" charset="-122"/>
                <a:cs typeface="Cambria" pitchFamily="34" charset="-120"/>
              </a:rPr>
              <a:t>Kuenphen Beauty Spa</a:t>
            </a:r>
            <a:endParaRPr lang="en-US" sz="4000" dirty="0"/>
          </a:p>
        </p:txBody>
      </p:sp>
      <p:sp>
        <p:nvSpPr>
          <p:cNvPr id="6" name="Text 3"/>
          <p:cNvSpPr txBox="1"/>
          <p:nvPr/>
        </p:nvSpPr>
        <p:spPr>
          <a:xfrm>
            <a:off x="0" y="2148840"/>
            <a:ext cx="12191695" cy="365760"/>
          </a:xfrm>
          <a:prstGeom prst="rect">
            <a:avLst/>
          </a:prstGeom>
          <a:noFill/>
          <a:ln/>
        </p:spPr>
        <p:txBody>
          <a:bodyPr wrap="square" lIns="0" tIns="0" rIns="0" bIns="0" rtlCol="0" anchor="ctr"/>
          <a:lstStyle/>
          <a:p>
            <a:pPr algn="ctr" indent="0" marL="0">
              <a:buNone/>
            </a:pPr>
            <a:r>
              <a:rPr lang="en-US" sz="1700" i="1" dirty="0">
                <a:solidFill>
                  <a:srgbClr val="3A3A38"/>
                </a:solidFill>
                <a:latin typeface="Cambria" pitchFamily="34" charset="0"/>
                <a:ea typeface="Cambria" pitchFamily="34" charset="-122"/>
                <a:cs typeface="Cambria" pitchFamily="34" charset="-120"/>
              </a:rPr>
              <a:t>Relax, Renew and Reconnect with Yourself</a:t>
            </a:r>
            <a:endParaRPr lang="en-US" sz="1700" dirty="0"/>
          </a:p>
        </p:txBody>
      </p:sp>
      <p:sp>
        <p:nvSpPr>
          <p:cNvPr id="7" name="Text 4"/>
          <p:cNvSpPr txBox="1"/>
          <p:nvPr/>
        </p:nvSpPr>
        <p:spPr>
          <a:xfrm>
            <a:off x="1889608" y="2606040"/>
            <a:ext cx="8412480" cy="685800"/>
          </a:xfrm>
          <a:prstGeom prst="rect">
            <a:avLst/>
          </a:prstGeom>
          <a:noFill/>
          <a:ln/>
        </p:spPr>
        <p:txBody>
          <a:bodyPr wrap="square" lIns="0" tIns="0" rIns="0" bIns="0" rtlCol="0" anchor="ctr"/>
          <a:lstStyle/>
          <a:p>
            <a:pPr algn="ctr" indent="0" marL="0">
              <a:lnSpc>
                <a:spcPct val="130000"/>
              </a:lnSpc>
              <a:buNone/>
            </a:pPr>
            <a:r>
              <a:rPr lang="en-US" sz="1250" dirty="0">
                <a:solidFill>
                  <a:srgbClr val="3A3A38"/>
                </a:solidFill>
                <a:latin typeface="Calibri" pitchFamily="34" charset="0"/>
                <a:ea typeface="Calibri" pitchFamily="34" charset="-122"/>
                <a:cs typeface="Calibri" pitchFamily="34" charset="-120"/>
              </a:rPr>
              <a:t>Tucked on the second floor of Oli Building in Gelephu, Kuenphen Beauty Spa is where you come to slow down. Every treatment in this catalog is performed by trained hands in a space built for quiet — browse the pages ahead and book whichever one speaks to you.</a:t>
            </a:r>
            <a:endParaRPr lang="en-US" sz="1250" dirty="0"/>
          </a:p>
        </p:txBody>
      </p:sp>
      <p:sp>
        <p:nvSpPr>
          <p:cNvPr id="8" name="Shape 5"/>
          <p:cNvSpPr/>
          <p:nvPr/>
        </p:nvSpPr>
        <p:spPr>
          <a:xfrm>
            <a:off x="5090008" y="3456432"/>
            <a:ext cx="685800" cy="0"/>
          </a:xfrm>
          <a:prstGeom prst="line">
            <a:avLst/>
          </a:prstGeom>
          <a:noFill/>
          <a:ln w="12700">
            <a:solidFill>
              <a:srgbClr val="C9A227"/>
            </a:solidFill>
            <a:prstDash val="solid"/>
          </a:ln>
        </p:spPr>
      </p:sp>
      <p:sp>
        <p:nvSpPr>
          <p:cNvPr id="9" name="Shape 6"/>
          <p:cNvSpPr/>
          <p:nvPr/>
        </p:nvSpPr>
        <p:spPr>
          <a:xfrm>
            <a:off x="6415888" y="3456432"/>
            <a:ext cx="685800" cy="0"/>
          </a:xfrm>
          <a:prstGeom prst="line">
            <a:avLst/>
          </a:prstGeom>
          <a:noFill/>
          <a:ln w="12700">
            <a:solidFill>
              <a:srgbClr val="C9A227"/>
            </a:solidFill>
            <a:prstDash val="solid"/>
          </a:ln>
        </p:spPr>
      </p:sp>
      <p:sp>
        <p:nvSpPr>
          <p:cNvPr id="10" name="Text 7"/>
          <p:cNvSpPr txBox="1"/>
          <p:nvPr/>
        </p:nvSpPr>
        <p:spPr>
          <a:xfrm>
            <a:off x="0" y="3657600"/>
            <a:ext cx="12191695" cy="320040"/>
          </a:xfrm>
          <a:prstGeom prst="rect">
            <a:avLst/>
          </a:prstGeom>
          <a:noFill/>
          <a:ln/>
        </p:spPr>
        <p:txBody>
          <a:bodyPr wrap="square" lIns="0" tIns="0" rIns="0" bIns="0" rtlCol="0" anchor="ctr"/>
          <a:lstStyle/>
          <a:p>
            <a:pPr algn="ctr" indent="0" marL="0">
              <a:buNone/>
            </a:pPr>
            <a:r>
              <a:rPr lang="en-US" sz="1300" b="1" spc="400" kern="0" dirty="0">
                <a:solidFill>
                  <a:srgbClr val="86691A"/>
                </a:solidFill>
                <a:latin typeface="Calibri" pitchFamily="34" charset="0"/>
                <a:ea typeface="Calibri" pitchFamily="34" charset="-122"/>
                <a:cs typeface="Calibri" pitchFamily="34" charset="-120"/>
              </a:rPr>
              <a:t>SERVICE CATALOG</a:t>
            </a:r>
            <a:endParaRPr lang="en-US" sz="1300" dirty="0"/>
          </a:p>
        </p:txBody>
      </p:sp>
      <p:sp>
        <p:nvSpPr>
          <p:cNvPr id="11" name="Text 8"/>
          <p:cNvSpPr txBox="1"/>
          <p:nvPr/>
        </p:nvSpPr>
        <p:spPr>
          <a:xfrm>
            <a:off x="1981048" y="4160520"/>
            <a:ext cx="2743200" cy="320040"/>
          </a:xfrm>
          <a:prstGeom prst="rect">
            <a:avLst/>
          </a:prstGeom>
          <a:noFill/>
          <a:ln/>
        </p:spPr>
        <p:txBody>
          <a:bodyPr wrap="square" lIns="0" tIns="0" rIns="0" bIns="0" rtlCol="0" anchor="ctr"/>
          <a:lstStyle/>
          <a:p>
            <a:pPr algn="ctr" indent="0" marL="0">
              <a:buNone/>
            </a:pPr>
            <a:r>
              <a:rPr lang="en-US" sz="1500" dirty="0">
                <a:solidFill>
                  <a:srgbClr val="1B1A18"/>
                </a:solidFill>
                <a:latin typeface="Cambria" pitchFamily="34" charset="0"/>
                <a:ea typeface="Cambria" pitchFamily="34" charset="-122"/>
                <a:cs typeface="Cambria" pitchFamily="34" charset="-120"/>
              </a:rPr>
              <a:t>Massage   </a:t>
            </a:r>
            <a:pPr algn="ctr" indent="0" marL="0">
              <a:buNone/>
            </a:pPr>
            <a:r>
              <a:rPr lang="en-US" sz="1100" dirty="0">
                <a:solidFill>
                  <a:srgbClr val="86691A"/>
                </a:solidFill>
                <a:latin typeface="Calibri" pitchFamily="34" charset="0"/>
                <a:ea typeface="Calibri" pitchFamily="34" charset="-122"/>
                <a:cs typeface="Calibri" pitchFamily="34" charset="-120"/>
              </a:rPr>
              <a:t>from Nu. 500</a:t>
            </a:r>
            <a:endParaRPr lang="en-US" sz="1500" dirty="0"/>
          </a:p>
        </p:txBody>
      </p:sp>
      <p:sp>
        <p:nvSpPr>
          <p:cNvPr id="12" name="Text 9"/>
          <p:cNvSpPr txBox="1"/>
          <p:nvPr/>
        </p:nvSpPr>
        <p:spPr>
          <a:xfrm>
            <a:off x="4724248" y="4160520"/>
            <a:ext cx="2743200" cy="320040"/>
          </a:xfrm>
          <a:prstGeom prst="rect">
            <a:avLst/>
          </a:prstGeom>
          <a:noFill/>
          <a:ln/>
        </p:spPr>
        <p:txBody>
          <a:bodyPr wrap="square" lIns="0" tIns="0" rIns="0" bIns="0" rtlCol="0" anchor="ctr"/>
          <a:lstStyle/>
          <a:p>
            <a:pPr algn="ctr" indent="0" marL="0">
              <a:buNone/>
            </a:pPr>
            <a:r>
              <a:rPr lang="en-US" sz="1500" dirty="0">
                <a:solidFill>
                  <a:srgbClr val="1B1A18"/>
                </a:solidFill>
                <a:latin typeface="Cambria" pitchFamily="34" charset="0"/>
                <a:ea typeface="Cambria" pitchFamily="34" charset="-122"/>
                <a:cs typeface="Cambria" pitchFamily="34" charset="-120"/>
              </a:rPr>
              <a:t>Facial   </a:t>
            </a:r>
            <a:pPr algn="ctr" indent="0" marL="0">
              <a:buNone/>
            </a:pPr>
            <a:r>
              <a:rPr lang="en-US" sz="1100" dirty="0">
                <a:solidFill>
                  <a:srgbClr val="86691A"/>
                </a:solidFill>
                <a:latin typeface="Calibri" pitchFamily="34" charset="0"/>
                <a:ea typeface="Calibri" pitchFamily="34" charset="-122"/>
                <a:cs typeface="Calibri" pitchFamily="34" charset="-120"/>
              </a:rPr>
              <a:t>from Nu. 600</a:t>
            </a:r>
            <a:endParaRPr lang="en-US" sz="1500" dirty="0"/>
          </a:p>
        </p:txBody>
      </p:sp>
      <p:sp>
        <p:nvSpPr>
          <p:cNvPr id="13" name="Text 10"/>
          <p:cNvSpPr txBox="1"/>
          <p:nvPr/>
        </p:nvSpPr>
        <p:spPr>
          <a:xfrm>
            <a:off x="7467448" y="4160520"/>
            <a:ext cx="2743200" cy="320040"/>
          </a:xfrm>
          <a:prstGeom prst="rect">
            <a:avLst/>
          </a:prstGeom>
          <a:noFill/>
          <a:ln/>
        </p:spPr>
        <p:txBody>
          <a:bodyPr wrap="square" lIns="0" tIns="0" rIns="0" bIns="0" rtlCol="0" anchor="ctr"/>
          <a:lstStyle/>
          <a:p>
            <a:pPr algn="ctr" indent="0" marL="0">
              <a:buNone/>
            </a:pPr>
            <a:r>
              <a:rPr lang="en-US" sz="1500" dirty="0">
                <a:solidFill>
                  <a:srgbClr val="1B1A18"/>
                </a:solidFill>
                <a:latin typeface="Cambria" pitchFamily="34" charset="0"/>
                <a:ea typeface="Cambria" pitchFamily="34" charset="-122"/>
                <a:cs typeface="Cambria" pitchFamily="34" charset="-120"/>
              </a:rPr>
              <a:t>Body Spa   </a:t>
            </a:r>
            <a:pPr algn="ctr" indent="0" marL="0">
              <a:buNone/>
            </a:pPr>
            <a:r>
              <a:rPr lang="en-US" sz="1100" dirty="0">
                <a:solidFill>
                  <a:srgbClr val="86691A"/>
                </a:solidFill>
                <a:latin typeface="Calibri" pitchFamily="34" charset="0"/>
                <a:ea typeface="Calibri" pitchFamily="34" charset="-122"/>
                <a:cs typeface="Calibri" pitchFamily="34" charset="-120"/>
              </a:rPr>
              <a:t>from Nu. 1,500</a:t>
            </a:r>
            <a:endParaRPr lang="en-US" sz="1500" dirty="0"/>
          </a:p>
        </p:txBody>
      </p:sp>
      <p:sp>
        <p:nvSpPr>
          <p:cNvPr id="14" name="Text 11"/>
          <p:cNvSpPr txBox="1"/>
          <p:nvPr/>
        </p:nvSpPr>
        <p:spPr>
          <a:xfrm>
            <a:off x="1981048" y="4526280"/>
            <a:ext cx="2743200" cy="320040"/>
          </a:xfrm>
          <a:prstGeom prst="rect">
            <a:avLst/>
          </a:prstGeom>
          <a:noFill/>
          <a:ln/>
        </p:spPr>
        <p:txBody>
          <a:bodyPr wrap="square" lIns="0" tIns="0" rIns="0" bIns="0" rtlCol="0" anchor="ctr"/>
          <a:lstStyle/>
          <a:p>
            <a:pPr algn="ctr" indent="0" marL="0">
              <a:buNone/>
            </a:pPr>
            <a:r>
              <a:rPr lang="en-US" sz="1500" dirty="0">
                <a:solidFill>
                  <a:srgbClr val="1B1A18"/>
                </a:solidFill>
                <a:latin typeface="Cambria" pitchFamily="34" charset="0"/>
                <a:ea typeface="Cambria" pitchFamily="34" charset="-122"/>
                <a:cs typeface="Cambria" pitchFamily="34" charset="-120"/>
              </a:rPr>
              <a:t>Waxing   </a:t>
            </a:r>
            <a:pPr algn="ctr" indent="0" marL="0">
              <a:buNone/>
            </a:pPr>
            <a:r>
              <a:rPr lang="en-US" sz="1100" dirty="0">
                <a:solidFill>
                  <a:srgbClr val="86691A"/>
                </a:solidFill>
                <a:latin typeface="Calibri" pitchFamily="34" charset="0"/>
                <a:ea typeface="Calibri" pitchFamily="34" charset="-122"/>
                <a:cs typeface="Calibri" pitchFamily="34" charset="-120"/>
              </a:rPr>
              <a:t>from Nu. 100</a:t>
            </a:r>
            <a:endParaRPr lang="en-US" sz="1500" dirty="0"/>
          </a:p>
        </p:txBody>
      </p:sp>
      <p:sp>
        <p:nvSpPr>
          <p:cNvPr id="15" name="Text 12"/>
          <p:cNvSpPr txBox="1"/>
          <p:nvPr/>
        </p:nvSpPr>
        <p:spPr>
          <a:xfrm>
            <a:off x="4724248" y="4526280"/>
            <a:ext cx="2743200" cy="320040"/>
          </a:xfrm>
          <a:prstGeom prst="rect">
            <a:avLst/>
          </a:prstGeom>
          <a:noFill/>
          <a:ln/>
        </p:spPr>
        <p:txBody>
          <a:bodyPr wrap="square" lIns="0" tIns="0" rIns="0" bIns="0" rtlCol="0" anchor="ctr"/>
          <a:lstStyle/>
          <a:p>
            <a:pPr algn="ctr" indent="0" marL="0">
              <a:buNone/>
            </a:pPr>
            <a:r>
              <a:rPr lang="en-US" sz="1500" dirty="0">
                <a:solidFill>
                  <a:srgbClr val="1B1A18"/>
                </a:solidFill>
                <a:latin typeface="Cambria" pitchFamily="34" charset="0"/>
                <a:ea typeface="Cambria" pitchFamily="34" charset="-122"/>
                <a:cs typeface="Cambria" pitchFamily="34" charset="-120"/>
              </a:rPr>
              <a:t>Manicure   </a:t>
            </a:r>
            <a:pPr algn="ctr" indent="0" marL="0">
              <a:buNone/>
            </a:pPr>
            <a:r>
              <a:rPr lang="en-US" sz="1100" dirty="0">
                <a:solidFill>
                  <a:srgbClr val="86691A"/>
                </a:solidFill>
                <a:latin typeface="Calibri" pitchFamily="34" charset="0"/>
                <a:ea typeface="Calibri" pitchFamily="34" charset="-122"/>
                <a:cs typeface="Calibri" pitchFamily="34" charset="-120"/>
              </a:rPr>
              <a:t>from Nu. 600</a:t>
            </a:r>
            <a:endParaRPr lang="en-US" sz="1500" dirty="0"/>
          </a:p>
        </p:txBody>
      </p:sp>
      <p:sp>
        <p:nvSpPr>
          <p:cNvPr id="16" name="Text 13"/>
          <p:cNvSpPr txBox="1"/>
          <p:nvPr/>
        </p:nvSpPr>
        <p:spPr>
          <a:xfrm>
            <a:off x="7467448" y="4526280"/>
            <a:ext cx="2743200" cy="320040"/>
          </a:xfrm>
          <a:prstGeom prst="rect">
            <a:avLst/>
          </a:prstGeom>
          <a:noFill/>
          <a:ln/>
        </p:spPr>
        <p:txBody>
          <a:bodyPr wrap="square" lIns="0" tIns="0" rIns="0" bIns="0" rtlCol="0" anchor="ctr"/>
          <a:lstStyle/>
          <a:p>
            <a:pPr algn="ctr" indent="0" marL="0">
              <a:buNone/>
            </a:pPr>
            <a:r>
              <a:rPr lang="en-US" sz="1500" dirty="0">
                <a:solidFill>
                  <a:srgbClr val="1B1A18"/>
                </a:solidFill>
                <a:latin typeface="Cambria" pitchFamily="34" charset="0"/>
                <a:ea typeface="Cambria" pitchFamily="34" charset="-122"/>
                <a:cs typeface="Cambria" pitchFamily="34" charset="-120"/>
              </a:rPr>
              <a:t>Pedicure   </a:t>
            </a:r>
            <a:pPr algn="ctr" indent="0" marL="0">
              <a:buNone/>
            </a:pPr>
            <a:r>
              <a:rPr lang="en-US" sz="1100" dirty="0">
                <a:solidFill>
                  <a:srgbClr val="86691A"/>
                </a:solidFill>
                <a:latin typeface="Calibri" pitchFamily="34" charset="0"/>
                <a:ea typeface="Calibri" pitchFamily="34" charset="-122"/>
                <a:cs typeface="Calibri" pitchFamily="34" charset="-120"/>
              </a:rPr>
              <a:t>from Nu. 700</a:t>
            </a:r>
            <a:endParaRPr lang="en-US" sz="1500" dirty="0"/>
          </a:p>
        </p:txBody>
      </p:sp>
      <p:pic>
        <p:nvPicPr>
          <p:cNvPr id="17" name="Image 1" descr="/tmp/claude-0/-home-user-KBSpa/fba49096-d8c8-5016-bfa2-c752ed8a675b/scratchpad/brochure/photos/web-massage.jpg">    </p:cNvPr>
          <p:cNvPicPr>
            <a:picLocks noChangeAspect="1"/>
          </p:cNvPicPr>
          <p:nvPr/>
        </p:nvPicPr>
        <p:blipFill>
          <a:blip r:embed="rId2"/>
          <a:stretch>
            <a:fillRect/>
          </a:stretch>
        </p:blipFill>
        <p:spPr>
          <a:xfrm>
            <a:off x="2849728" y="5074920"/>
            <a:ext cx="1417320" cy="1417320"/>
          </a:xfrm>
          <a:prstGeom prst="rect">
            <a:avLst/>
          </a:prstGeom>
        </p:spPr>
      </p:pic>
      <p:pic>
        <p:nvPicPr>
          <p:cNvPr id="18" name="Image 2" descr="/tmp/claude-0/-home-user-KBSpa/fba49096-d8c8-5016-bfa2-c752ed8a675b/scratchpad/brochure/photos/web-facial.jpg">    </p:cNvPr>
          <p:cNvPicPr>
            <a:picLocks noChangeAspect="1"/>
          </p:cNvPicPr>
          <p:nvPr/>
        </p:nvPicPr>
        <p:blipFill>
          <a:blip r:embed="rId3"/>
          <a:stretch>
            <a:fillRect/>
          </a:stretch>
        </p:blipFill>
        <p:spPr>
          <a:xfrm>
            <a:off x="4541368" y="5074920"/>
            <a:ext cx="1417320" cy="1417320"/>
          </a:xfrm>
          <a:prstGeom prst="rect">
            <a:avLst/>
          </a:prstGeom>
        </p:spPr>
      </p:pic>
      <p:pic>
        <p:nvPicPr>
          <p:cNvPr id="19" name="Image 3" descr="/tmp/claude-0/-home-user-KBSpa/fba49096-d8c8-5016-bfa2-c752ed8a675b/scratchpad/brochure/photos/web-bodyspa.jpg">    </p:cNvPr>
          <p:cNvPicPr>
            <a:picLocks noChangeAspect="1"/>
          </p:cNvPicPr>
          <p:nvPr/>
        </p:nvPicPr>
        <p:blipFill>
          <a:blip r:embed="rId4"/>
          <a:stretch>
            <a:fillRect/>
          </a:stretch>
        </p:blipFill>
        <p:spPr>
          <a:xfrm>
            <a:off x="6233008" y="5074920"/>
            <a:ext cx="1417320" cy="1417320"/>
          </a:xfrm>
          <a:prstGeom prst="rect">
            <a:avLst/>
          </a:prstGeom>
        </p:spPr>
      </p:pic>
      <p:pic>
        <p:nvPicPr>
          <p:cNvPr id="20" name="Image 4" descr="/tmp/claude-0/-home-user-KBSpa/fba49096-d8c8-5016-bfa2-c752ed8a675b/scratchpad/brochure/photos/web-waxing.jpg">    </p:cNvPr>
          <p:cNvPicPr>
            <a:picLocks noChangeAspect="1"/>
          </p:cNvPicPr>
          <p:nvPr/>
        </p:nvPicPr>
        <p:blipFill>
          <a:blip r:embed="rId5"/>
          <a:stretch>
            <a:fillRect/>
          </a:stretch>
        </p:blipFill>
        <p:spPr>
          <a:xfrm>
            <a:off x="7924648" y="5074920"/>
            <a:ext cx="1417320" cy="1417320"/>
          </a:xfrm>
          <a:prstGeom prst="rect">
            <a:avLst/>
          </a:prstGeom>
        </p:spPr>
      </p:pic>
      <p:sp>
        <p:nvSpPr>
          <p:cNvPr id="21" name="Text 14"/>
          <p:cNvSpPr txBox="1"/>
          <p:nvPr/>
        </p:nvSpPr>
        <p:spPr>
          <a:xfrm>
            <a:off x="0" y="6492240"/>
            <a:ext cx="12191695" cy="274320"/>
          </a:xfrm>
          <a:prstGeom prst="rect">
            <a:avLst/>
          </a:prstGeom>
          <a:noFill/>
          <a:ln/>
        </p:spPr>
        <p:txBody>
          <a:bodyPr wrap="square" lIns="0" tIns="0" rIns="0" bIns="0" rtlCol="0" anchor="ctr"/>
          <a:lstStyle/>
          <a:p>
            <a:pPr algn="ctr" indent="0" marL="0">
              <a:buNone/>
            </a:pPr>
            <a:r>
              <a:rPr lang="en-US" sz="1050" dirty="0">
                <a:solidFill>
                  <a:srgbClr val="3A3A38"/>
                </a:solidFill>
                <a:latin typeface="Calibri" pitchFamily="34" charset="0"/>
                <a:ea typeface="Calibri" pitchFamily="34" charset="-122"/>
                <a:cs typeface="Calibri" pitchFamily="34" charset="-120"/>
              </a:rPr>
              <a:t>Oli Building, 2nd Floor, near NNC Sales, Gelephu, Bhutan   ·   kuenphenbeautyspa.com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3" type="body" hasCustomPrompt="1"/>
          </p:nvPr>
        </p:nvSpPr>
        <p:spPr>
          <a:xfrm>
            <a:off x="6309360" y="1005840"/>
            <a:ext cx="5212080" cy="274320"/>
          </a:xfrm>
          <a:prstGeom prst="rect">
            <a:avLst/>
          </a:prstGeom>
          <a:noFill/>
          <a:ln/>
        </p:spPr>
        <p:txBody>
          <a:bodyPr wrap="square" rtlCol="0"/>
          <a:lstStyle/>
          <a:p>
            <a:pPr indent="0" marL="0">
              <a:buNone/>
            </a:pPr>
            <a:r>
              <a:rPr lang="en-US" sz="1100" b="1" spc="300" kern="0" dirty="0">
                <a:solidFill>
                  <a:srgbClr val="86691A"/>
                </a:solidFill>
                <a:latin typeface="Calibri" pitchFamily="34" charset="0"/>
                <a:ea typeface="Calibri" pitchFamily="34" charset="-122"/>
                <a:cs typeface="Calibri" pitchFamily="34" charset="-120"/>
              </a:rPr>
              <a:t>SPA MENU</a:t>
            </a:r>
            <a:endParaRPr lang="en-US" sz="1100" dirty="0"/>
          </a:p>
        </p:txBody>
      </p:sp>
      <p:sp>
        <p:nvSpPr>
          <p:cNvPr id="3" name="Text 1"/>
          <p:cNvSpPr/>
          <p:nvPr>
            <p:ph idx="104" type="title" hasCustomPrompt="1"/>
          </p:nvPr>
        </p:nvSpPr>
        <p:spPr>
          <a:xfrm>
            <a:off x="6309360" y="1280160"/>
            <a:ext cx="5212080" cy="685800"/>
          </a:xfrm>
          <a:prstGeom prst="rect">
            <a:avLst/>
          </a:prstGeom>
          <a:noFill/>
          <a:ln/>
        </p:spPr>
        <p:txBody>
          <a:bodyPr wrap="square" rtlCol="0" anchor="t"/>
          <a:lstStyle/>
          <a:p>
            <a:pPr indent="0" marL="0">
              <a:buNone/>
            </a:pPr>
            <a:r>
              <a:rPr lang="en-US" sz="4000" dirty="0">
                <a:solidFill>
                  <a:srgbClr val="1B1A18"/>
                </a:solidFill>
                <a:latin typeface="Cambria" pitchFamily="34" charset="0"/>
                <a:ea typeface="Cambria" pitchFamily="34" charset="-122"/>
                <a:cs typeface="Cambria" pitchFamily="34" charset="-120"/>
              </a:rPr>
              <a:t>Massage</a:t>
            </a:r>
            <a:endParaRPr lang="en-US" sz="4000" dirty="0"/>
          </a:p>
        </p:txBody>
      </p:sp>
      <p:sp>
        <p:nvSpPr>
          <p:cNvPr id="4" name="Text 1"/>
          <p:cNvSpPr/>
          <p:nvPr>
            <p:ph idx="105" type="body" hasCustomPrompt="1"/>
          </p:nvPr>
        </p:nvSpPr>
        <p:spPr>
          <a:xfrm>
            <a:off x="6309360" y="1965960"/>
            <a:ext cx="5212080" cy="411480"/>
          </a:xfrm>
          <a:prstGeom prst="rect">
            <a:avLst/>
          </a:prstGeom>
          <a:noFill/>
          <a:ln/>
        </p:spPr>
        <p:txBody>
          <a:bodyPr wrap="square" rtlCol="0"/>
          <a:lstStyle/>
          <a:p>
            <a:pPr indent="0" marL="0">
              <a:buNone/>
            </a:pPr>
            <a:r>
              <a:rPr lang="en-US" sz="1500" i="1" dirty="0">
                <a:solidFill>
                  <a:srgbClr val="3A3A38"/>
                </a:solidFill>
                <a:latin typeface="Cambria" pitchFamily="34" charset="0"/>
                <a:ea typeface="Cambria" pitchFamily="34" charset="-122"/>
                <a:cs typeface="Cambria" pitchFamily="34" charset="-120"/>
              </a:rPr>
              <a:t>Therapeutic bodywork to release tension and restore balance.</a:t>
            </a:r>
            <a:endParaRPr lang="en-US" sz="1500" dirty="0"/>
          </a:p>
        </p:txBody>
      </p:sp>
      <p:pic>
        <p:nvPicPr>
          <p:cNvPr id="5" name="Image 0" descr="/tmp/claude-0/-home-user-KBSpa/fba49096-d8c8-5016-bfa2-c752ed8a675b/scratchpad/brochure/photos/web-massage.jpg">    </p:cNvPr>
          <p:cNvPicPr>
            <a:picLocks noChangeAspect="1"/>
          </p:cNvPicPr>
          <p:nvPr/>
        </p:nvPicPr>
        <p:blipFill>
          <a:blip r:embed="rId1"/>
          <a:stretch>
            <a:fillRect/>
          </a:stretch>
        </p:blipFill>
        <p:spPr>
          <a:xfrm>
            <a:off x="548640" y="1143000"/>
            <a:ext cx="5212080" cy="5212080"/>
          </a:xfrm>
          <a:prstGeom prst="rect">
            <a:avLst/>
          </a:prstGeom>
        </p:spPr>
      </p:pic>
      <p:sp>
        <p:nvSpPr>
          <p:cNvPr id="6" name="Text 3"/>
          <p:cNvSpPr txBox="1"/>
          <p:nvPr/>
        </p:nvSpPr>
        <p:spPr>
          <a:xfrm>
            <a:off x="548640" y="960120"/>
            <a:ext cx="1371600" cy="365760"/>
          </a:xfrm>
          <a:prstGeom prst="roundRect">
            <a:avLst>
              <a:gd name="adj" fmla="val 50000"/>
            </a:avLst>
          </a:prstGeom>
          <a:solidFill>
            <a:srgbClr val="1B1A18"/>
          </a:solidFill>
          <a:ln/>
        </p:spPr>
        <p:txBody>
          <a:bodyPr wrap="square" lIns="0" tIns="0" rIns="0" bIns="0" rtlCol="0" anchor="ctr"/>
          <a:lstStyle/>
          <a:p>
            <a:pPr algn="ctr" indent="0" marL="0">
              <a:buNone/>
            </a:pPr>
            <a:r>
              <a:rPr lang="en-US" sz="1000" b="1" spc="100" kern="0" dirty="0">
                <a:solidFill>
                  <a:srgbClr val="FDFCFA"/>
                </a:solidFill>
                <a:latin typeface="Calibri" pitchFamily="34" charset="0"/>
                <a:ea typeface="Calibri" pitchFamily="34" charset="-122"/>
                <a:cs typeface="Calibri" pitchFamily="34" charset="-120"/>
              </a:rPr>
              <a:t>BEST SELLER</a:t>
            </a:r>
            <a:endParaRPr lang="en-US" sz="1000" dirty="0"/>
          </a:p>
        </p:txBody>
      </p:sp>
      <p:sp>
        <p:nvSpPr>
          <p:cNvPr id="7" name="Text 4"/>
          <p:cNvSpPr txBox="1"/>
          <p:nvPr/>
        </p:nvSpPr>
        <p:spPr>
          <a:xfrm>
            <a:off x="6309360" y="2359152"/>
            <a:ext cx="5212080" cy="777240"/>
          </a:xfrm>
          <a:prstGeom prst="rect">
            <a:avLst/>
          </a:prstGeom>
          <a:noFill/>
          <a:ln/>
        </p:spPr>
        <p:txBody>
          <a:bodyPr wrap="square" lIns="0" tIns="0" rIns="0" bIns="0" rtlCol="0" anchor="ctr"/>
          <a:lstStyle/>
          <a:p>
            <a:pPr indent="0" marL="0">
              <a:lnSpc>
                <a:spcPct val="122000"/>
              </a:lnSpc>
              <a:buNone/>
            </a:pPr>
            <a:r>
              <a:rPr lang="en-US" sz="1100" dirty="0">
                <a:solidFill>
                  <a:srgbClr val="3A3A38"/>
                </a:solidFill>
                <a:latin typeface="Calibri" pitchFamily="34" charset="0"/>
                <a:ea typeface="Calibri" pitchFamily="34" charset="-122"/>
                <a:cs typeface="Calibri" pitchFamily="34" charset="-120"/>
              </a:rPr>
              <a:t>From firm, focused deep-tissue work to the slower glide of a classic Swedish massage, every session is shaped around how your body feels that day. Tell your therapist where you're holding tension and how much pressure you like.</a:t>
            </a:r>
            <a:endParaRPr lang="en-US" sz="1100" dirty="0"/>
          </a:p>
        </p:txBody>
      </p:sp>
      <p:sp>
        <p:nvSpPr>
          <p:cNvPr id="8" name="Text 5"/>
          <p:cNvSpPr txBox="1"/>
          <p:nvPr/>
        </p:nvSpPr>
        <p:spPr>
          <a:xfrm>
            <a:off x="6309360" y="3200400"/>
            <a:ext cx="4023360" cy="274320"/>
          </a:xfrm>
          <a:prstGeom prst="rect">
            <a:avLst/>
          </a:prstGeom>
          <a:noFill/>
          <a:ln/>
        </p:spPr>
        <p:txBody>
          <a:bodyPr wrap="square" lIns="0" tIns="0" rIns="0" bIns="0" rtlCol="0" anchor="ctr"/>
          <a:lstStyle/>
          <a:p>
            <a:pPr indent="0" marL="0">
              <a:buNone/>
            </a:pPr>
            <a:r>
              <a:rPr lang="en-US" sz="1500" b="1" dirty="0">
                <a:solidFill>
                  <a:srgbClr val="1B1A18"/>
                </a:solidFill>
                <a:latin typeface="Cambria" pitchFamily="34" charset="0"/>
                <a:ea typeface="Cambria" pitchFamily="34" charset="-122"/>
                <a:cs typeface="Cambria" pitchFamily="34" charset="-120"/>
              </a:rPr>
              <a:t>Deep Tissue Massage</a:t>
            </a:r>
            <a:endParaRPr lang="en-US" sz="1500" dirty="0"/>
          </a:p>
        </p:txBody>
      </p:sp>
      <p:sp>
        <p:nvSpPr>
          <p:cNvPr id="9" name="Text 6"/>
          <p:cNvSpPr txBox="1"/>
          <p:nvPr/>
        </p:nvSpPr>
        <p:spPr>
          <a:xfrm>
            <a:off x="10424160" y="3200400"/>
            <a:ext cx="1097280" cy="237744"/>
          </a:xfrm>
          <a:prstGeom prst="roundRect">
            <a:avLst>
              <a:gd name="adj" fmla="val 50000"/>
            </a:avLst>
          </a:prstGeom>
          <a:solidFill>
            <a:srgbClr val="F5EDCE"/>
          </a:solidFill>
          <a:ln/>
        </p:spPr>
        <p:txBody>
          <a:bodyPr wrap="square" lIns="0" tIns="0" rIns="0" bIns="0" rtlCol="0" anchor="ctr"/>
          <a:lstStyle/>
          <a:p>
            <a:pPr algn="ctr" indent="0" marL="0">
              <a:buNone/>
            </a:pPr>
            <a:r>
              <a:rPr lang="en-US" sz="800" b="1" dirty="0">
                <a:solidFill>
                  <a:srgbClr val="86691A"/>
                </a:solidFill>
                <a:latin typeface="Calibri" pitchFamily="34" charset="0"/>
                <a:ea typeface="Calibri" pitchFamily="34" charset="-122"/>
                <a:cs typeface="Calibri" pitchFamily="34" charset="-120"/>
              </a:rPr>
              <a:t>SIGNATURE</a:t>
            </a:r>
            <a:endParaRPr lang="en-US" sz="800" dirty="0"/>
          </a:p>
        </p:txBody>
      </p:sp>
      <p:sp>
        <p:nvSpPr>
          <p:cNvPr id="10" name="Text 7"/>
          <p:cNvSpPr txBox="1"/>
          <p:nvPr/>
        </p:nvSpPr>
        <p:spPr>
          <a:xfrm>
            <a:off x="6309360" y="3474720"/>
            <a:ext cx="5212080" cy="256032"/>
          </a:xfrm>
          <a:prstGeom prst="rect">
            <a:avLst/>
          </a:prstGeom>
          <a:noFill/>
          <a:ln/>
        </p:spPr>
        <p:txBody>
          <a:bodyPr wrap="square" lIns="0" tIns="0" rIns="0" bIns="0" rtlCol="0" anchor="ctr"/>
          <a:lstStyle/>
          <a:p>
            <a:pPr indent="0" marL="0">
              <a:buNone/>
            </a:pPr>
            <a:r>
              <a:rPr lang="en-US" sz="1250" dirty="0">
                <a:solidFill>
                  <a:srgbClr val="3A3A38"/>
                </a:solidFill>
                <a:latin typeface="Cambria" pitchFamily="34" charset="0"/>
                <a:ea typeface="Cambria" pitchFamily="34" charset="-122"/>
                <a:cs typeface="Cambria" pitchFamily="34" charset="-120"/>
              </a:rPr>
              <a:t>60 min  </a:t>
            </a:r>
            <a:pPr indent="0" marL="0">
              <a:buNone/>
            </a:pPr>
            <a:r>
              <a:rPr lang="en-US" sz="1350" b="1" dirty="0">
                <a:solidFill>
                  <a:srgbClr val="86691A"/>
                </a:solidFill>
                <a:latin typeface="Cambria" pitchFamily="34" charset="0"/>
                <a:ea typeface="Cambria" pitchFamily="34" charset="-122"/>
                <a:cs typeface="Cambria" pitchFamily="34" charset="-120"/>
              </a:rPr>
              <a:t>Nu. 1,500</a:t>
            </a:r>
            <a:pPr indent="0" marL="0">
              <a:buNone/>
            </a:pPr>
            <a:r>
              <a:rPr lang="en-US" sz="1250" dirty="0">
                <a:solidFill>
                  <a:srgbClr val="000000"/>
                </a:solidFill>
                <a:latin typeface="Cambria" pitchFamily="34" charset="0"/>
                <a:ea typeface="Cambria" pitchFamily="34" charset="-122"/>
                <a:cs typeface="Cambria" pitchFamily="34" charset="-120"/>
              </a:rPr>
              <a:t>      </a:t>
            </a:r>
            <a:pPr indent="0" marL="0">
              <a:buNone/>
            </a:pPr>
            <a:r>
              <a:rPr lang="en-US" sz="1250" dirty="0">
                <a:solidFill>
                  <a:srgbClr val="3A3A38"/>
                </a:solidFill>
                <a:latin typeface="Cambria" pitchFamily="34" charset="0"/>
                <a:ea typeface="Cambria" pitchFamily="34" charset="-122"/>
                <a:cs typeface="Cambria" pitchFamily="34" charset="-120"/>
              </a:rPr>
              <a:t>90 min  </a:t>
            </a:r>
            <a:pPr indent="0" marL="0">
              <a:buNone/>
            </a:pPr>
            <a:r>
              <a:rPr lang="en-US" sz="1350" b="1" dirty="0">
                <a:solidFill>
                  <a:srgbClr val="86691A"/>
                </a:solidFill>
                <a:latin typeface="Cambria" pitchFamily="34" charset="0"/>
                <a:ea typeface="Cambria" pitchFamily="34" charset="-122"/>
                <a:cs typeface="Cambria" pitchFamily="34" charset="-120"/>
              </a:rPr>
              <a:t>Nu. 2,000</a:t>
            </a:r>
            <a:endParaRPr lang="en-US" sz="1250" dirty="0"/>
          </a:p>
        </p:txBody>
      </p:sp>
      <p:sp>
        <p:nvSpPr>
          <p:cNvPr id="11" name="Shape 8"/>
          <p:cNvSpPr/>
          <p:nvPr/>
        </p:nvSpPr>
        <p:spPr>
          <a:xfrm>
            <a:off x="6309360" y="3730752"/>
            <a:ext cx="5212080" cy="0"/>
          </a:xfrm>
          <a:prstGeom prst="line">
            <a:avLst/>
          </a:prstGeom>
          <a:noFill/>
          <a:ln w="12700">
            <a:solidFill>
              <a:srgbClr val="F2EDE4"/>
            </a:solidFill>
            <a:prstDash val="solid"/>
          </a:ln>
        </p:spPr>
      </p:sp>
      <p:sp>
        <p:nvSpPr>
          <p:cNvPr id="12" name="Text 9"/>
          <p:cNvSpPr txBox="1"/>
          <p:nvPr/>
        </p:nvSpPr>
        <p:spPr>
          <a:xfrm>
            <a:off x="6309360" y="3785616"/>
            <a:ext cx="5212080" cy="274320"/>
          </a:xfrm>
          <a:prstGeom prst="rect">
            <a:avLst/>
          </a:prstGeom>
          <a:noFill/>
          <a:ln/>
        </p:spPr>
        <p:txBody>
          <a:bodyPr wrap="square" lIns="0" tIns="0" rIns="0" bIns="0" rtlCol="0" anchor="ctr"/>
          <a:lstStyle/>
          <a:p>
            <a:pPr indent="0" marL="0">
              <a:buNone/>
            </a:pPr>
            <a:r>
              <a:rPr lang="en-US" sz="1500" b="1" dirty="0">
                <a:solidFill>
                  <a:srgbClr val="1B1A18"/>
                </a:solidFill>
                <a:latin typeface="Cambria" pitchFamily="34" charset="0"/>
                <a:ea typeface="Cambria" pitchFamily="34" charset="-122"/>
                <a:cs typeface="Cambria" pitchFamily="34" charset="-120"/>
              </a:rPr>
              <a:t>Swedish Massage</a:t>
            </a:r>
            <a:endParaRPr lang="en-US" sz="1500" dirty="0"/>
          </a:p>
        </p:txBody>
      </p:sp>
      <p:sp>
        <p:nvSpPr>
          <p:cNvPr id="13" name="Text 10"/>
          <p:cNvSpPr txBox="1"/>
          <p:nvPr/>
        </p:nvSpPr>
        <p:spPr>
          <a:xfrm>
            <a:off x="6309360" y="4059936"/>
            <a:ext cx="5212080" cy="256032"/>
          </a:xfrm>
          <a:prstGeom prst="rect">
            <a:avLst/>
          </a:prstGeom>
          <a:noFill/>
          <a:ln/>
        </p:spPr>
        <p:txBody>
          <a:bodyPr wrap="square" lIns="0" tIns="0" rIns="0" bIns="0" rtlCol="0" anchor="ctr"/>
          <a:lstStyle/>
          <a:p>
            <a:pPr indent="0" marL="0">
              <a:buNone/>
            </a:pPr>
            <a:r>
              <a:rPr lang="en-US" sz="1250" dirty="0">
                <a:solidFill>
                  <a:srgbClr val="3A3A38"/>
                </a:solidFill>
                <a:latin typeface="Cambria" pitchFamily="34" charset="0"/>
                <a:ea typeface="Cambria" pitchFamily="34" charset="-122"/>
                <a:cs typeface="Cambria" pitchFamily="34" charset="-120"/>
              </a:rPr>
              <a:t>60 min  </a:t>
            </a:r>
            <a:pPr indent="0" marL="0">
              <a:buNone/>
            </a:pPr>
            <a:r>
              <a:rPr lang="en-US" sz="1350" b="1" dirty="0">
                <a:solidFill>
                  <a:srgbClr val="86691A"/>
                </a:solidFill>
                <a:latin typeface="Cambria" pitchFamily="34" charset="0"/>
                <a:ea typeface="Cambria" pitchFamily="34" charset="-122"/>
                <a:cs typeface="Cambria" pitchFamily="34" charset="-120"/>
              </a:rPr>
              <a:t>Nu. 1,300</a:t>
            </a:r>
            <a:pPr indent="0" marL="0">
              <a:buNone/>
            </a:pPr>
            <a:r>
              <a:rPr lang="en-US" sz="1250" dirty="0">
                <a:solidFill>
                  <a:srgbClr val="000000"/>
                </a:solidFill>
                <a:latin typeface="Cambria" pitchFamily="34" charset="0"/>
                <a:ea typeface="Cambria" pitchFamily="34" charset="-122"/>
                <a:cs typeface="Cambria" pitchFamily="34" charset="-120"/>
              </a:rPr>
              <a:t>      </a:t>
            </a:r>
            <a:pPr indent="0" marL="0">
              <a:buNone/>
            </a:pPr>
            <a:r>
              <a:rPr lang="en-US" sz="1250" dirty="0">
                <a:solidFill>
                  <a:srgbClr val="3A3A38"/>
                </a:solidFill>
                <a:latin typeface="Cambria" pitchFamily="34" charset="0"/>
                <a:ea typeface="Cambria" pitchFamily="34" charset="-122"/>
                <a:cs typeface="Cambria" pitchFamily="34" charset="-120"/>
              </a:rPr>
              <a:t>90 min  </a:t>
            </a:r>
            <a:pPr indent="0" marL="0">
              <a:buNone/>
            </a:pPr>
            <a:r>
              <a:rPr lang="en-US" sz="1350" b="1" dirty="0">
                <a:solidFill>
                  <a:srgbClr val="86691A"/>
                </a:solidFill>
                <a:latin typeface="Cambria" pitchFamily="34" charset="0"/>
                <a:ea typeface="Cambria" pitchFamily="34" charset="-122"/>
                <a:cs typeface="Cambria" pitchFamily="34" charset="-120"/>
              </a:rPr>
              <a:t>Nu. 1,800</a:t>
            </a:r>
            <a:endParaRPr lang="en-US" sz="1250" dirty="0"/>
          </a:p>
        </p:txBody>
      </p:sp>
      <p:sp>
        <p:nvSpPr>
          <p:cNvPr id="14" name="Shape 11"/>
          <p:cNvSpPr/>
          <p:nvPr/>
        </p:nvSpPr>
        <p:spPr>
          <a:xfrm>
            <a:off x="6309360" y="4315968"/>
            <a:ext cx="5212080" cy="0"/>
          </a:xfrm>
          <a:prstGeom prst="line">
            <a:avLst/>
          </a:prstGeom>
          <a:noFill/>
          <a:ln w="12700">
            <a:solidFill>
              <a:srgbClr val="F2EDE4"/>
            </a:solidFill>
            <a:prstDash val="solid"/>
          </a:ln>
        </p:spPr>
      </p:sp>
      <p:sp>
        <p:nvSpPr>
          <p:cNvPr id="15" name="Text 12"/>
          <p:cNvSpPr txBox="1"/>
          <p:nvPr/>
        </p:nvSpPr>
        <p:spPr>
          <a:xfrm>
            <a:off x="6309360" y="4370832"/>
            <a:ext cx="5212080" cy="274320"/>
          </a:xfrm>
          <a:prstGeom prst="rect">
            <a:avLst/>
          </a:prstGeom>
          <a:noFill/>
          <a:ln/>
        </p:spPr>
        <p:txBody>
          <a:bodyPr wrap="square" lIns="0" tIns="0" rIns="0" bIns="0" rtlCol="0" anchor="ctr"/>
          <a:lstStyle/>
          <a:p>
            <a:pPr indent="0" marL="0">
              <a:buNone/>
            </a:pPr>
            <a:r>
              <a:rPr lang="en-US" sz="1500" b="1" dirty="0">
                <a:solidFill>
                  <a:srgbClr val="1B1A18"/>
                </a:solidFill>
                <a:latin typeface="Cambria" pitchFamily="34" charset="0"/>
                <a:ea typeface="Cambria" pitchFamily="34" charset="-122"/>
                <a:cs typeface="Cambria" pitchFamily="34" charset="-120"/>
              </a:rPr>
              <a:t>Aromatherapy Massage</a:t>
            </a:r>
            <a:endParaRPr lang="en-US" sz="1500" dirty="0"/>
          </a:p>
        </p:txBody>
      </p:sp>
      <p:sp>
        <p:nvSpPr>
          <p:cNvPr id="16" name="Text 13"/>
          <p:cNvSpPr txBox="1"/>
          <p:nvPr/>
        </p:nvSpPr>
        <p:spPr>
          <a:xfrm>
            <a:off x="6309360" y="4645152"/>
            <a:ext cx="5212080" cy="256032"/>
          </a:xfrm>
          <a:prstGeom prst="rect">
            <a:avLst/>
          </a:prstGeom>
          <a:noFill/>
          <a:ln/>
        </p:spPr>
        <p:txBody>
          <a:bodyPr wrap="square" lIns="0" tIns="0" rIns="0" bIns="0" rtlCol="0" anchor="ctr"/>
          <a:lstStyle/>
          <a:p>
            <a:pPr indent="0" marL="0">
              <a:buNone/>
            </a:pPr>
            <a:r>
              <a:rPr lang="en-US" sz="1250" dirty="0">
                <a:solidFill>
                  <a:srgbClr val="3A3A38"/>
                </a:solidFill>
                <a:latin typeface="Cambria" pitchFamily="34" charset="0"/>
                <a:ea typeface="Cambria" pitchFamily="34" charset="-122"/>
                <a:cs typeface="Cambria" pitchFamily="34" charset="-120"/>
              </a:rPr>
              <a:t>60 min  </a:t>
            </a:r>
            <a:pPr indent="0" marL="0">
              <a:buNone/>
            </a:pPr>
            <a:r>
              <a:rPr lang="en-US" sz="1350" b="1" dirty="0">
                <a:solidFill>
                  <a:srgbClr val="86691A"/>
                </a:solidFill>
                <a:latin typeface="Cambria" pitchFamily="34" charset="0"/>
                <a:ea typeface="Cambria" pitchFamily="34" charset="-122"/>
                <a:cs typeface="Cambria" pitchFamily="34" charset="-120"/>
              </a:rPr>
              <a:t>Nu. 1,300</a:t>
            </a:r>
            <a:pPr indent="0" marL="0">
              <a:buNone/>
            </a:pPr>
            <a:r>
              <a:rPr lang="en-US" sz="1250" dirty="0">
                <a:solidFill>
                  <a:srgbClr val="000000"/>
                </a:solidFill>
                <a:latin typeface="Cambria" pitchFamily="34" charset="0"/>
                <a:ea typeface="Cambria" pitchFamily="34" charset="-122"/>
                <a:cs typeface="Cambria" pitchFamily="34" charset="-120"/>
              </a:rPr>
              <a:t>      </a:t>
            </a:r>
            <a:pPr indent="0" marL="0">
              <a:buNone/>
            </a:pPr>
            <a:r>
              <a:rPr lang="en-US" sz="1250" dirty="0">
                <a:solidFill>
                  <a:srgbClr val="3A3A38"/>
                </a:solidFill>
                <a:latin typeface="Cambria" pitchFamily="34" charset="0"/>
                <a:ea typeface="Cambria" pitchFamily="34" charset="-122"/>
                <a:cs typeface="Cambria" pitchFamily="34" charset="-120"/>
              </a:rPr>
              <a:t>90 min  </a:t>
            </a:r>
            <a:pPr indent="0" marL="0">
              <a:buNone/>
            </a:pPr>
            <a:r>
              <a:rPr lang="en-US" sz="1350" b="1" dirty="0">
                <a:solidFill>
                  <a:srgbClr val="86691A"/>
                </a:solidFill>
                <a:latin typeface="Cambria" pitchFamily="34" charset="0"/>
                <a:ea typeface="Cambria" pitchFamily="34" charset="-122"/>
                <a:cs typeface="Cambria" pitchFamily="34" charset="-120"/>
              </a:rPr>
              <a:t>Nu. 1,800</a:t>
            </a:r>
            <a:endParaRPr lang="en-US" sz="1250" dirty="0"/>
          </a:p>
        </p:txBody>
      </p:sp>
      <p:sp>
        <p:nvSpPr>
          <p:cNvPr id="17" name="Shape 14"/>
          <p:cNvSpPr/>
          <p:nvPr/>
        </p:nvSpPr>
        <p:spPr>
          <a:xfrm>
            <a:off x="6309360" y="4901184"/>
            <a:ext cx="5212080" cy="0"/>
          </a:xfrm>
          <a:prstGeom prst="line">
            <a:avLst/>
          </a:prstGeom>
          <a:noFill/>
          <a:ln w="12700">
            <a:solidFill>
              <a:srgbClr val="F2EDE4"/>
            </a:solidFill>
            <a:prstDash val="solid"/>
          </a:ln>
        </p:spPr>
      </p:sp>
      <p:sp>
        <p:nvSpPr>
          <p:cNvPr id="18" name="Text 15"/>
          <p:cNvSpPr txBox="1"/>
          <p:nvPr/>
        </p:nvSpPr>
        <p:spPr>
          <a:xfrm>
            <a:off x="6309360" y="4956048"/>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Head, Neck &amp; Back Massage (30 min)</a:t>
            </a:r>
            <a:endParaRPr lang="en-US" sz="1500" dirty="0"/>
          </a:p>
        </p:txBody>
      </p:sp>
      <p:sp>
        <p:nvSpPr>
          <p:cNvPr id="19" name="Text 16"/>
          <p:cNvSpPr txBox="1"/>
          <p:nvPr/>
        </p:nvSpPr>
        <p:spPr>
          <a:xfrm>
            <a:off x="10058400" y="4956048"/>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950</a:t>
            </a:r>
            <a:endParaRPr lang="en-US" sz="1500" dirty="0"/>
          </a:p>
        </p:txBody>
      </p:sp>
      <p:sp>
        <p:nvSpPr>
          <p:cNvPr id="20" name="Shape 17"/>
          <p:cNvSpPr/>
          <p:nvPr/>
        </p:nvSpPr>
        <p:spPr>
          <a:xfrm>
            <a:off x="6309360" y="5257800"/>
            <a:ext cx="5212080" cy="0"/>
          </a:xfrm>
          <a:prstGeom prst="line">
            <a:avLst/>
          </a:prstGeom>
          <a:noFill/>
          <a:ln w="12700">
            <a:solidFill>
              <a:srgbClr val="F2EDE4"/>
            </a:solidFill>
            <a:prstDash val="solid"/>
          </a:ln>
        </p:spPr>
      </p:sp>
      <p:sp>
        <p:nvSpPr>
          <p:cNvPr id="21" name="Text 18"/>
          <p:cNvSpPr txBox="1"/>
          <p:nvPr/>
        </p:nvSpPr>
        <p:spPr>
          <a:xfrm>
            <a:off x="6309360" y="5303520"/>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Head Massage (30 min)</a:t>
            </a:r>
            <a:endParaRPr lang="en-US" sz="1500" dirty="0"/>
          </a:p>
        </p:txBody>
      </p:sp>
      <p:sp>
        <p:nvSpPr>
          <p:cNvPr id="22" name="Text 19"/>
          <p:cNvSpPr txBox="1"/>
          <p:nvPr/>
        </p:nvSpPr>
        <p:spPr>
          <a:xfrm>
            <a:off x="10058400" y="5303520"/>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500</a:t>
            </a:r>
            <a:endParaRPr lang="en-US" sz="1500" dirty="0"/>
          </a:p>
        </p:txBody>
      </p:sp>
      <p:sp>
        <p:nvSpPr>
          <p:cNvPr id="23" name="Shape 20"/>
          <p:cNvSpPr/>
          <p:nvPr/>
        </p:nvSpPr>
        <p:spPr>
          <a:xfrm>
            <a:off x="6309360" y="5605272"/>
            <a:ext cx="5212080" cy="0"/>
          </a:xfrm>
          <a:prstGeom prst="line">
            <a:avLst/>
          </a:prstGeom>
          <a:noFill/>
          <a:ln w="12700">
            <a:solidFill>
              <a:srgbClr val="F2EDE4"/>
            </a:solidFill>
            <a:prstDash val="solid"/>
          </a:ln>
        </p:spPr>
      </p:sp>
      <p:sp>
        <p:nvSpPr>
          <p:cNvPr id="24" name="Text 21"/>
          <p:cNvSpPr txBox="1"/>
          <p:nvPr/>
        </p:nvSpPr>
        <p:spPr>
          <a:xfrm>
            <a:off x="6309360" y="5650992"/>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Feet Massage (30 min)</a:t>
            </a:r>
            <a:endParaRPr lang="en-US" sz="1500" dirty="0"/>
          </a:p>
        </p:txBody>
      </p:sp>
      <p:sp>
        <p:nvSpPr>
          <p:cNvPr id="25" name="Text 22"/>
          <p:cNvSpPr txBox="1"/>
          <p:nvPr/>
        </p:nvSpPr>
        <p:spPr>
          <a:xfrm>
            <a:off x="10058400" y="5650992"/>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500</a:t>
            </a:r>
            <a:endParaRPr lang="en-US" sz="1500" dirty="0"/>
          </a:p>
        </p:txBody>
      </p:sp>
      <p:sp>
        <p:nvSpPr>
          <p:cNvPr id="26" name="Shape 23"/>
          <p:cNvSpPr/>
          <p:nvPr/>
        </p:nvSpPr>
        <p:spPr>
          <a:xfrm>
            <a:off x="6309360" y="5952744"/>
            <a:ext cx="5212080" cy="0"/>
          </a:xfrm>
          <a:prstGeom prst="line">
            <a:avLst/>
          </a:prstGeom>
          <a:noFill/>
          <a:ln w="12700">
            <a:solidFill>
              <a:srgbClr val="F2EDE4"/>
            </a:solidFill>
            <a:prstDash val="solid"/>
          </a:ln>
        </p:spPr>
      </p:sp>
      <p:sp>
        <p:nvSpPr>
          <p:cNvPr id="27" name="Text 1"/>
          <p:cNvSpPr/>
          <p:nvPr>
            <p:ph idx="101" type="body" hasCustomPrompt="1"/>
          </p:nvPr>
        </p:nvSpPr>
        <p:spPr>
          <a:xfrm>
            <a:off x="640080" y="6419088"/>
            <a:ext cx="7315200" cy="274320"/>
          </a:xfrm>
          <a:prstGeom prst="rect">
            <a:avLst/>
          </a:prstGeom>
          <a:noFill/>
          <a:ln/>
        </p:spPr>
        <p:txBody>
          <a:bodyPr wrap="square" rtlCol="0" anchor="ctr"/>
          <a:lstStyle/>
          <a:p>
            <a:pPr indent="0" marL="0">
              <a:buNone/>
            </a:pPr>
            <a:endParaRPr lang="en-US" sz="900" dirty="0"/>
          </a:p>
        </p:txBody>
      </p:sp>
      <p:sp>
        <p:nvSpPr>
          <p:cNvPr id="28" name="Text 1"/>
          <p:cNvSpPr/>
          <p:nvPr>
            <p:ph idx="102" type="body" hasCustomPrompt="1"/>
          </p:nvPr>
        </p:nvSpPr>
        <p:spPr>
          <a:xfrm>
            <a:off x="8808415" y="6419088"/>
            <a:ext cx="2743200" cy="274320"/>
          </a:xfrm>
          <a:prstGeom prst="rect">
            <a:avLst/>
          </a:prstGeom>
          <a:noFill/>
          <a:ln/>
        </p:spPr>
        <p:txBody>
          <a:bodyPr wrap="square" rtlCol="0" anchor="ctr"/>
          <a:lstStyle/>
          <a:p>
            <a:pPr algn="r" indent="0" marL="0">
              <a:buNone/>
            </a:pPr>
            <a:endParaRPr lang="en-US" sz="900" dirty="0"/>
          </a:p>
        </p:txBody>
      </p:sp>
      <p:sp>
        <p:nvSpPr>
          <p:cNvPr id="29" name="Text 1"/>
          <p:cNvSpPr/>
          <p:nvPr>
            <p:ph idx="106" hasCustomPrompt="1"/>
          </p:nvPr>
        </p:nvSpPr>
        <p:spPr>
          <a:xfrm>
            <a:off x="548640" y="1143000"/>
            <a:ext cx="5212080" cy="5212080"/>
          </a:xfrm>
          <a:prstGeom prst="rect">
            <a:avLst/>
          </a:prstGeom>
          <a:noFill/>
          <a:ln/>
        </p:spPr>
        <p:txBody>
          <a:bodyPr wrap="square" rtlCol="0"/>
          <a:lstStyle/>
          <a:p>
            <a:pPr indent="0" marL="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3" type="body" hasCustomPrompt="1"/>
          </p:nvPr>
        </p:nvSpPr>
        <p:spPr>
          <a:xfrm>
            <a:off x="640080" y="1005840"/>
            <a:ext cx="5212080" cy="274320"/>
          </a:xfrm>
          <a:prstGeom prst="rect">
            <a:avLst/>
          </a:prstGeom>
          <a:noFill/>
          <a:ln/>
        </p:spPr>
        <p:txBody>
          <a:bodyPr wrap="square" rtlCol="0"/>
          <a:lstStyle/>
          <a:p>
            <a:pPr indent="0" marL="0">
              <a:buNone/>
            </a:pPr>
            <a:r>
              <a:rPr lang="en-US" sz="1100" b="1" spc="300" kern="0" dirty="0">
                <a:solidFill>
                  <a:srgbClr val="86691A"/>
                </a:solidFill>
                <a:latin typeface="Calibri" pitchFamily="34" charset="0"/>
                <a:ea typeface="Calibri" pitchFamily="34" charset="-122"/>
                <a:cs typeface="Calibri" pitchFamily="34" charset="-120"/>
              </a:rPr>
              <a:t>SPA MENU</a:t>
            </a:r>
            <a:endParaRPr lang="en-US" sz="1100" dirty="0"/>
          </a:p>
        </p:txBody>
      </p:sp>
      <p:sp>
        <p:nvSpPr>
          <p:cNvPr id="3" name="Text 1"/>
          <p:cNvSpPr/>
          <p:nvPr>
            <p:ph idx="104" type="title" hasCustomPrompt="1"/>
          </p:nvPr>
        </p:nvSpPr>
        <p:spPr>
          <a:xfrm>
            <a:off x="640080" y="1280160"/>
            <a:ext cx="5212080" cy="685800"/>
          </a:xfrm>
          <a:prstGeom prst="rect">
            <a:avLst/>
          </a:prstGeom>
          <a:noFill/>
          <a:ln/>
        </p:spPr>
        <p:txBody>
          <a:bodyPr wrap="square" rtlCol="0" anchor="t"/>
          <a:lstStyle/>
          <a:p>
            <a:pPr indent="0" marL="0">
              <a:buNone/>
            </a:pPr>
            <a:r>
              <a:rPr lang="en-US" sz="4000" dirty="0">
                <a:solidFill>
                  <a:srgbClr val="1B1A18"/>
                </a:solidFill>
                <a:latin typeface="Cambria" pitchFamily="34" charset="0"/>
                <a:ea typeface="Cambria" pitchFamily="34" charset="-122"/>
                <a:cs typeface="Cambria" pitchFamily="34" charset="-120"/>
              </a:rPr>
              <a:t>Facial</a:t>
            </a:r>
            <a:endParaRPr lang="en-US" sz="4000" dirty="0"/>
          </a:p>
        </p:txBody>
      </p:sp>
      <p:sp>
        <p:nvSpPr>
          <p:cNvPr id="4" name="Text 1"/>
          <p:cNvSpPr/>
          <p:nvPr>
            <p:ph idx="105" type="body" hasCustomPrompt="1"/>
          </p:nvPr>
        </p:nvSpPr>
        <p:spPr>
          <a:xfrm>
            <a:off x="640080" y="1965960"/>
            <a:ext cx="5212080" cy="411480"/>
          </a:xfrm>
          <a:prstGeom prst="rect">
            <a:avLst/>
          </a:prstGeom>
          <a:noFill/>
          <a:ln/>
        </p:spPr>
        <p:txBody>
          <a:bodyPr wrap="square" rtlCol="0"/>
          <a:lstStyle/>
          <a:p>
            <a:pPr indent="0" marL="0">
              <a:buNone/>
            </a:pPr>
            <a:r>
              <a:rPr lang="en-US" sz="1500" i="1" dirty="0">
                <a:solidFill>
                  <a:srgbClr val="3A3A38"/>
                </a:solidFill>
                <a:latin typeface="Cambria" pitchFamily="34" charset="0"/>
                <a:ea typeface="Cambria" pitchFamily="34" charset="-122"/>
                <a:cs typeface="Cambria" pitchFamily="34" charset="-120"/>
              </a:rPr>
              <a:t>Deep-cleansing and brightening treatments for every skin type.</a:t>
            </a:r>
            <a:endParaRPr lang="en-US" sz="1500" dirty="0"/>
          </a:p>
        </p:txBody>
      </p:sp>
      <p:pic>
        <p:nvPicPr>
          <p:cNvPr id="5" name="Image 0" descr="/tmp/claude-0/-home-user-KBSpa/fba49096-d8c8-5016-bfa2-c752ed8a675b/scratchpad/brochure/photos/web-facial.jpg">    </p:cNvPr>
          <p:cNvPicPr>
            <a:picLocks noChangeAspect="1"/>
          </p:cNvPicPr>
          <p:nvPr/>
        </p:nvPicPr>
        <p:blipFill>
          <a:blip r:embed="rId1"/>
          <a:stretch>
            <a:fillRect/>
          </a:stretch>
        </p:blipFill>
        <p:spPr>
          <a:xfrm>
            <a:off x="6400800" y="1143000"/>
            <a:ext cx="5212080" cy="5212080"/>
          </a:xfrm>
          <a:prstGeom prst="rect">
            <a:avLst/>
          </a:prstGeom>
        </p:spPr>
      </p:pic>
      <p:sp>
        <p:nvSpPr>
          <p:cNvPr id="6" name="Text 3"/>
          <p:cNvSpPr txBox="1"/>
          <p:nvPr/>
        </p:nvSpPr>
        <p:spPr>
          <a:xfrm>
            <a:off x="6400800" y="960120"/>
            <a:ext cx="1371600" cy="365760"/>
          </a:xfrm>
          <a:prstGeom prst="roundRect">
            <a:avLst>
              <a:gd name="adj" fmla="val 50000"/>
            </a:avLst>
          </a:prstGeom>
          <a:solidFill>
            <a:srgbClr val="1B1A18"/>
          </a:solidFill>
          <a:ln/>
        </p:spPr>
        <p:txBody>
          <a:bodyPr wrap="square" lIns="0" tIns="0" rIns="0" bIns="0" rtlCol="0" anchor="ctr"/>
          <a:lstStyle/>
          <a:p>
            <a:pPr algn="ctr" indent="0" marL="0">
              <a:buNone/>
            </a:pPr>
            <a:r>
              <a:rPr lang="en-US" sz="1000" b="1" spc="100" kern="0" dirty="0">
                <a:solidFill>
                  <a:srgbClr val="FDFCFA"/>
                </a:solidFill>
                <a:latin typeface="Calibri" pitchFamily="34" charset="0"/>
                <a:ea typeface="Calibri" pitchFamily="34" charset="-122"/>
                <a:cs typeface="Calibri" pitchFamily="34" charset="-120"/>
              </a:rPr>
              <a:t>BEST SELLER</a:t>
            </a:r>
            <a:endParaRPr lang="en-US" sz="1000" dirty="0"/>
          </a:p>
        </p:txBody>
      </p:sp>
      <p:sp>
        <p:nvSpPr>
          <p:cNvPr id="7" name="Text 4"/>
          <p:cNvSpPr txBox="1"/>
          <p:nvPr/>
        </p:nvSpPr>
        <p:spPr>
          <a:xfrm>
            <a:off x="640080" y="2359152"/>
            <a:ext cx="5212080" cy="777240"/>
          </a:xfrm>
          <a:prstGeom prst="rect">
            <a:avLst/>
          </a:prstGeom>
          <a:noFill/>
          <a:ln/>
        </p:spPr>
        <p:txBody>
          <a:bodyPr wrap="square" lIns="0" tIns="0" rIns="0" bIns="0" rtlCol="0" anchor="ctr"/>
          <a:lstStyle/>
          <a:p>
            <a:pPr indent="0" marL="0">
              <a:lnSpc>
                <a:spcPct val="122000"/>
              </a:lnSpc>
              <a:buNone/>
            </a:pPr>
            <a:r>
              <a:rPr lang="en-US" sz="1100" dirty="0">
                <a:solidFill>
                  <a:srgbClr val="3A3A38"/>
                </a:solidFill>
                <a:latin typeface="Calibri" pitchFamily="34" charset="0"/>
                <a:ea typeface="Calibri" pitchFamily="34" charset="-122"/>
                <a:cs typeface="Calibri" pitchFamily="34" charset="-120"/>
              </a:rPr>
              <a:t>Whether your skin needs a quick reset or a dedicated plan for acne, dullness or uneven tone, our facials pair hands-on technique with results-driven care — from a straightforward cleanse to BB Glow and Vitamin C hydration.</a:t>
            </a:r>
            <a:endParaRPr lang="en-US" sz="1100" dirty="0"/>
          </a:p>
        </p:txBody>
      </p:sp>
      <p:sp>
        <p:nvSpPr>
          <p:cNvPr id="8" name="Text 5"/>
          <p:cNvSpPr txBox="1"/>
          <p:nvPr/>
        </p:nvSpPr>
        <p:spPr>
          <a:xfrm>
            <a:off x="640080" y="3200400"/>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BB Glow</a:t>
            </a:r>
            <a:endParaRPr lang="en-US" sz="1500" dirty="0"/>
          </a:p>
        </p:txBody>
      </p:sp>
      <p:sp>
        <p:nvSpPr>
          <p:cNvPr id="9" name="Text 6"/>
          <p:cNvSpPr txBox="1"/>
          <p:nvPr/>
        </p:nvSpPr>
        <p:spPr>
          <a:xfrm>
            <a:off x="4389120" y="3200400"/>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3,000</a:t>
            </a:r>
            <a:endParaRPr lang="en-US" sz="1500" dirty="0"/>
          </a:p>
        </p:txBody>
      </p:sp>
      <p:sp>
        <p:nvSpPr>
          <p:cNvPr id="10" name="Shape 7"/>
          <p:cNvSpPr/>
          <p:nvPr/>
        </p:nvSpPr>
        <p:spPr>
          <a:xfrm>
            <a:off x="640080" y="3502152"/>
            <a:ext cx="5212080" cy="0"/>
          </a:xfrm>
          <a:prstGeom prst="line">
            <a:avLst/>
          </a:prstGeom>
          <a:noFill/>
          <a:ln w="12700">
            <a:solidFill>
              <a:srgbClr val="F2EDE4"/>
            </a:solidFill>
            <a:prstDash val="solid"/>
          </a:ln>
        </p:spPr>
      </p:sp>
      <p:sp>
        <p:nvSpPr>
          <p:cNvPr id="11" name="Text 8"/>
          <p:cNvSpPr txBox="1"/>
          <p:nvPr/>
        </p:nvSpPr>
        <p:spPr>
          <a:xfrm>
            <a:off x="3337560" y="3200400"/>
            <a:ext cx="960120" cy="237744"/>
          </a:xfrm>
          <a:prstGeom prst="roundRect">
            <a:avLst>
              <a:gd name="adj" fmla="val 50000"/>
            </a:avLst>
          </a:prstGeom>
          <a:solidFill>
            <a:srgbClr val="F5EDCE"/>
          </a:solidFill>
          <a:ln/>
        </p:spPr>
        <p:txBody>
          <a:bodyPr wrap="square" lIns="0" tIns="0" rIns="0" bIns="0" rtlCol="0" anchor="ctr"/>
          <a:lstStyle/>
          <a:p>
            <a:pPr algn="ctr" indent="0" marL="0">
              <a:buNone/>
            </a:pPr>
            <a:r>
              <a:rPr lang="en-US" sz="800" b="1" dirty="0">
                <a:solidFill>
                  <a:srgbClr val="86691A"/>
                </a:solidFill>
                <a:latin typeface="Calibri" pitchFamily="34" charset="0"/>
                <a:ea typeface="Calibri" pitchFamily="34" charset="-122"/>
                <a:cs typeface="Calibri" pitchFamily="34" charset="-120"/>
              </a:rPr>
              <a:t>SIGNATURE</a:t>
            </a:r>
            <a:endParaRPr lang="en-US" sz="800" dirty="0"/>
          </a:p>
        </p:txBody>
      </p:sp>
      <p:sp>
        <p:nvSpPr>
          <p:cNvPr id="12" name="Text 9"/>
          <p:cNvSpPr txBox="1"/>
          <p:nvPr/>
        </p:nvSpPr>
        <p:spPr>
          <a:xfrm>
            <a:off x="640080" y="3547872"/>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Vitamin C Hydra Facial</a:t>
            </a:r>
            <a:endParaRPr lang="en-US" sz="1500" dirty="0"/>
          </a:p>
        </p:txBody>
      </p:sp>
      <p:sp>
        <p:nvSpPr>
          <p:cNvPr id="13" name="Text 10"/>
          <p:cNvSpPr txBox="1"/>
          <p:nvPr/>
        </p:nvSpPr>
        <p:spPr>
          <a:xfrm>
            <a:off x="4389120" y="3547872"/>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2,500</a:t>
            </a:r>
            <a:endParaRPr lang="en-US" sz="1500" dirty="0"/>
          </a:p>
        </p:txBody>
      </p:sp>
      <p:sp>
        <p:nvSpPr>
          <p:cNvPr id="14" name="Shape 11"/>
          <p:cNvSpPr/>
          <p:nvPr/>
        </p:nvSpPr>
        <p:spPr>
          <a:xfrm>
            <a:off x="640080" y="3849624"/>
            <a:ext cx="5212080" cy="0"/>
          </a:xfrm>
          <a:prstGeom prst="line">
            <a:avLst/>
          </a:prstGeom>
          <a:noFill/>
          <a:ln w="12700">
            <a:solidFill>
              <a:srgbClr val="F2EDE4"/>
            </a:solidFill>
            <a:prstDash val="solid"/>
          </a:ln>
        </p:spPr>
      </p:sp>
      <p:sp>
        <p:nvSpPr>
          <p:cNvPr id="15" name="Text 12"/>
          <p:cNvSpPr txBox="1"/>
          <p:nvPr/>
        </p:nvSpPr>
        <p:spPr>
          <a:xfrm>
            <a:off x="640080" y="3895344"/>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Twacha Hydra Facial</a:t>
            </a:r>
            <a:endParaRPr lang="en-US" sz="1500" dirty="0"/>
          </a:p>
        </p:txBody>
      </p:sp>
      <p:sp>
        <p:nvSpPr>
          <p:cNvPr id="16" name="Text 13"/>
          <p:cNvSpPr txBox="1"/>
          <p:nvPr/>
        </p:nvSpPr>
        <p:spPr>
          <a:xfrm>
            <a:off x="4389120" y="3895344"/>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1,500</a:t>
            </a:r>
            <a:endParaRPr lang="en-US" sz="1500" dirty="0"/>
          </a:p>
        </p:txBody>
      </p:sp>
      <p:sp>
        <p:nvSpPr>
          <p:cNvPr id="17" name="Shape 14"/>
          <p:cNvSpPr/>
          <p:nvPr/>
        </p:nvSpPr>
        <p:spPr>
          <a:xfrm>
            <a:off x="640080" y="4197096"/>
            <a:ext cx="5212080" cy="0"/>
          </a:xfrm>
          <a:prstGeom prst="line">
            <a:avLst/>
          </a:prstGeom>
          <a:noFill/>
          <a:ln w="12700">
            <a:solidFill>
              <a:srgbClr val="F2EDE4"/>
            </a:solidFill>
            <a:prstDash val="solid"/>
          </a:ln>
        </p:spPr>
      </p:sp>
      <p:sp>
        <p:nvSpPr>
          <p:cNvPr id="18" name="Text 15"/>
          <p:cNvSpPr txBox="1"/>
          <p:nvPr/>
        </p:nvSpPr>
        <p:spPr>
          <a:xfrm>
            <a:off x="640080" y="4242816"/>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Acne Treatment</a:t>
            </a:r>
            <a:endParaRPr lang="en-US" sz="1500" dirty="0"/>
          </a:p>
        </p:txBody>
      </p:sp>
      <p:sp>
        <p:nvSpPr>
          <p:cNvPr id="19" name="Text 16"/>
          <p:cNvSpPr txBox="1"/>
          <p:nvPr/>
        </p:nvSpPr>
        <p:spPr>
          <a:xfrm>
            <a:off x="4389120" y="4242816"/>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1,050</a:t>
            </a:r>
            <a:endParaRPr lang="en-US" sz="1500" dirty="0"/>
          </a:p>
        </p:txBody>
      </p:sp>
      <p:sp>
        <p:nvSpPr>
          <p:cNvPr id="20" name="Shape 17"/>
          <p:cNvSpPr/>
          <p:nvPr/>
        </p:nvSpPr>
        <p:spPr>
          <a:xfrm>
            <a:off x="640080" y="4544568"/>
            <a:ext cx="5212080" cy="0"/>
          </a:xfrm>
          <a:prstGeom prst="line">
            <a:avLst/>
          </a:prstGeom>
          <a:noFill/>
          <a:ln w="12700">
            <a:solidFill>
              <a:srgbClr val="F2EDE4"/>
            </a:solidFill>
            <a:prstDash val="solid"/>
          </a:ln>
        </p:spPr>
      </p:sp>
      <p:sp>
        <p:nvSpPr>
          <p:cNvPr id="21" name="Text 18"/>
          <p:cNvSpPr txBox="1"/>
          <p:nvPr/>
        </p:nvSpPr>
        <p:spPr>
          <a:xfrm>
            <a:off x="640080" y="4590288"/>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Manual Vitamin C Facial</a:t>
            </a:r>
            <a:endParaRPr lang="en-US" sz="1500" dirty="0"/>
          </a:p>
        </p:txBody>
      </p:sp>
      <p:sp>
        <p:nvSpPr>
          <p:cNvPr id="22" name="Text 19"/>
          <p:cNvSpPr txBox="1"/>
          <p:nvPr/>
        </p:nvSpPr>
        <p:spPr>
          <a:xfrm>
            <a:off x="4389120" y="4590288"/>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1,000</a:t>
            </a:r>
            <a:endParaRPr lang="en-US" sz="1500" dirty="0"/>
          </a:p>
        </p:txBody>
      </p:sp>
      <p:sp>
        <p:nvSpPr>
          <p:cNvPr id="23" name="Shape 20"/>
          <p:cNvSpPr/>
          <p:nvPr/>
        </p:nvSpPr>
        <p:spPr>
          <a:xfrm>
            <a:off x="640080" y="4892040"/>
            <a:ext cx="5212080" cy="0"/>
          </a:xfrm>
          <a:prstGeom prst="line">
            <a:avLst/>
          </a:prstGeom>
          <a:noFill/>
          <a:ln w="12700">
            <a:solidFill>
              <a:srgbClr val="F2EDE4"/>
            </a:solidFill>
            <a:prstDash val="solid"/>
          </a:ln>
        </p:spPr>
      </p:sp>
      <p:sp>
        <p:nvSpPr>
          <p:cNvPr id="24" name="Text 21"/>
          <p:cNvSpPr txBox="1"/>
          <p:nvPr/>
        </p:nvSpPr>
        <p:spPr>
          <a:xfrm>
            <a:off x="640080" y="4937760"/>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Rich Feel Facial</a:t>
            </a:r>
            <a:endParaRPr lang="en-US" sz="1500" dirty="0"/>
          </a:p>
        </p:txBody>
      </p:sp>
      <p:sp>
        <p:nvSpPr>
          <p:cNvPr id="25" name="Text 22"/>
          <p:cNvSpPr txBox="1"/>
          <p:nvPr/>
        </p:nvSpPr>
        <p:spPr>
          <a:xfrm>
            <a:off x="4389120" y="4937760"/>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950</a:t>
            </a:r>
            <a:endParaRPr lang="en-US" sz="1500" dirty="0"/>
          </a:p>
        </p:txBody>
      </p:sp>
      <p:sp>
        <p:nvSpPr>
          <p:cNvPr id="26" name="Shape 23"/>
          <p:cNvSpPr/>
          <p:nvPr/>
        </p:nvSpPr>
        <p:spPr>
          <a:xfrm>
            <a:off x="640080" y="5239512"/>
            <a:ext cx="5212080" cy="0"/>
          </a:xfrm>
          <a:prstGeom prst="line">
            <a:avLst/>
          </a:prstGeom>
          <a:noFill/>
          <a:ln w="12700">
            <a:solidFill>
              <a:srgbClr val="F2EDE4"/>
            </a:solidFill>
            <a:prstDash val="solid"/>
          </a:ln>
        </p:spPr>
      </p:sp>
      <p:sp>
        <p:nvSpPr>
          <p:cNvPr id="27" name="Text 24"/>
          <p:cNvSpPr txBox="1"/>
          <p:nvPr/>
        </p:nvSpPr>
        <p:spPr>
          <a:xfrm>
            <a:off x="640080" y="5285232"/>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Cleansing Facial</a:t>
            </a:r>
            <a:endParaRPr lang="en-US" sz="1500" dirty="0"/>
          </a:p>
        </p:txBody>
      </p:sp>
      <p:sp>
        <p:nvSpPr>
          <p:cNvPr id="28" name="Text 25"/>
          <p:cNvSpPr txBox="1"/>
          <p:nvPr/>
        </p:nvSpPr>
        <p:spPr>
          <a:xfrm>
            <a:off x="4389120" y="5285232"/>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600</a:t>
            </a:r>
            <a:endParaRPr lang="en-US" sz="1500" dirty="0"/>
          </a:p>
        </p:txBody>
      </p:sp>
      <p:sp>
        <p:nvSpPr>
          <p:cNvPr id="29" name="Shape 26"/>
          <p:cNvSpPr/>
          <p:nvPr/>
        </p:nvSpPr>
        <p:spPr>
          <a:xfrm>
            <a:off x="640080" y="5586984"/>
            <a:ext cx="5212080" cy="0"/>
          </a:xfrm>
          <a:prstGeom prst="line">
            <a:avLst/>
          </a:prstGeom>
          <a:noFill/>
          <a:ln w="12700">
            <a:solidFill>
              <a:srgbClr val="F2EDE4"/>
            </a:solidFill>
            <a:prstDash val="solid"/>
          </a:ln>
        </p:spPr>
      </p:sp>
      <p:sp>
        <p:nvSpPr>
          <p:cNvPr id="30" name="Text 1"/>
          <p:cNvSpPr/>
          <p:nvPr>
            <p:ph idx="101" type="body" hasCustomPrompt="1"/>
          </p:nvPr>
        </p:nvSpPr>
        <p:spPr>
          <a:xfrm>
            <a:off x="640080" y="6419088"/>
            <a:ext cx="7315200" cy="274320"/>
          </a:xfrm>
          <a:prstGeom prst="rect">
            <a:avLst/>
          </a:prstGeom>
          <a:noFill/>
          <a:ln/>
        </p:spPr>
        <p:txBody>
          <a:bodyPr wrap="square" rtlCol="0" anchor="ctr"/>
          <a:lstStyle/>
          <a:p>
            <a:pPr indent="0" marL="0">
              <a:buNone/>
            </a:pPr>
            <a:endParaRPr lang="en-US" sz="900" dirty="0"/>
          </a:p>
        </p:txBody>
      </p:sp>
      <p:sp>
        <p:nvSpPr>
          <p:cNvPr id="31" name="Text 1"/>
          <p:cNvSpPr/>
          <p:nvPr>
            <p:ph idx="102" type="body" hasCustomPrompt="1"/>
          </p:nvPr>
        </p:nvSpPr>
        <p:spPr>
          <a:xfrm>
            <a:off x="8808415" y="6419088"/>
            <a:ext cx="2743200" cy="274320"/>
          </a:xfrm>
          <a:prstGeom prst="rect">
            <a:avLst/>
          </a:prstGeom>
          <a:noFill/>
          <a:ln/>
        </p:spPr>
        <p:txBody>
          <a:bodyPr wrap="square" rtlCol="0" anchor="ctr"/>
          <a:lstStyle/>
          <a:p>
            <a:pPr algn="r" indent="0" marL="0">
              <a:buNone/>
            </a:pPr>
            <a:endParaRPr lang="en-US" sz="900" dirty="0"/>
          </a:p>
        </p:txBody>
      </p:sp>
      <p:sp>
        <p:nvSpPr>
          <p:cNvPr id="32" name="Text 1"/>
          <p:cNvSpPr/>
          <p:nvPr>
            <p:ph idx="106" hasCustomPrompt="1"/>
          </p:nvPr>
        </p:nvSpPr>
        <p:spPr>
          <a:xfrm>
            <a:off x="6400800" y="1143000"/>
            <a:ext cx="5212080" cy="5212080"/>
          </a:xfrm>
          <a:prstGeom prst="rect">
            <a:avLst/>
          </a:prstGeom>
          <a:noFill/>
          <a:ln/>
        </p:spPr>
        <p:txBody>
          <a:bodyPr wrap="square" rtlCol="0"/>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3" type="body" hasCustomPrompt="1"/>
          </p:nvPr>
        </p:nvSpPr>
        <p:spPr>
          <a:xfrm>
            <a:off x="6309360" y="1005840"/>
            <a:ext cx="5212080" cy="274320"/>
          </a:xfrm>
          <a:prstGeom prst="rect">
            <a:avLst/>
          </a:prstGeom>
          <a:noFill/>
          <a:ln/>
        </p:spPr>
        <p:txBody>
          <a:bodyPr wrap="square" rtlCol="0"/>
          <a:lstStyle/>
          <a:p>
            <a:pPr indent="0" marL="0">
              <a:buNone/>
            </a:pPr>
            <a:r>
              <a:rPr lang="en-US" sz="1100" b="1" spc="300" kern="0" dirty="0">
                <a:solidFill>
                  <a:srgbClr val="86691A"/>
                </a:solidFill>
                <a:latin typeface="Calibri" pitchFamily="34" charset="0"/>
                <a:ea typeface="Calibri" pitchFamily="34" charset="-122"/>
                <a:cs typeface="Calibri" pitchFamily="34" charset="-120"/>
              </a:rPr>
              <a:t>SPA MENU</a:t>
            </a:r>
            <a:endParaRPr lang="en-US" sz="1100" dirty="0"/>
          </a:p>
        </p:txBody>
      </p:sp>
      <p:sp>
        <p:nvSpPr>
          <p:cNvPr id="3" name="Text 1"/>
          <p:cNvSpPr/>
          <p:nvPr>
            <p:ph idx="104" type="title" hasCustomPrompt="1"/>
          </p:nvPr>
        </p:nvSpPr>
        <p:spPr>
          <a:xfrm>
            <a:off x="6309360" y="1280160"/>
            <a:ext cx="5212080" cy="685800"/>
          </a:xfrm>
          <a:prstGeom prst="rect">
            <a:avLst/>
          </a:prstGeom>
          <a:noFill/>
          <a:ln/>
        </p:spPr>
        <p:txBody>
          <a:bodyPr wrap="square" rtlCol="0" anchor="t"/>
          <a:lstStyle/>
          <a:p>
            <a:pPr indent="0" marL="0">
              <a:buNone/>
            </a:pPr>
            <a:r>
              <a:rPr lang="en-US" sz="4000" dirty="0">
                <a:solidFill>
                  <a:srgbClr val="1B1A18"/>
                </a:solidFill>
                <a:latin typeface="Cambria" pitchFamily="34" charset="0"/>
                <a:ea typeface="Cambria" pitchFamily="34" charset="-122"/>
                <a:cs typeface="Cambria" pitchFamily="34" charset="-120"/>
              </a:rPr>
              <a:t>Body Spa</a:t>
            </a:r>
            <a:endParaRPr lang="en-US" sz="4000" dirty="0"/>
          </a:p>
        </p:txBody>
      </p:sp>
      <p:sp>
        <p:nvSpPr>
          <p:cNvPr id="4" name="Text 1"/>
          <p:cNvSpPr/>
          <p:nvPr>
            <p:ph idx="105" type="body" hasCustomPrompt="1"/>
          </p:nvPr>
        </p:nvSpPr>
        <p:spPr>
          <a:xfrm>
            <a:off x="6309360" y="1965960"/>
            <a:ext cx="5212080" cy="411480"/>
          </a:xfrm>
          <a:prstGeom prst="rect">
            <a:avLst/>
          </a:prstGeom>
          <a:noFill/>
          <a:ln/>
        </p:spPr>
        <p:txBody>
          <a:bodyPr wrap="square" rtlCol="0"/>
          <a:lstStyle/>
          <a:p>
            <a:pPr indent="0" marL="0">
              <a:buNone/>
            </a:pPr>
            <a:r>
              <a:rPr lang="en-US" sz="1500" i="1" dirty="0">
                <a:solidFill>
                  <a:srgbClr val="3A3A38"/>
                </a:solidFill>
                <a:latin typeface="Cambria" pitchFamily="34" charset="0"/>
                <a:ea typeface="Cambria" pitchFamily="34" charset="-122"/>
                <a:cs typeface="Cambria" pitchFamily="34" charset="-120"/>
              </a:rPr>
              <a:t>Full-body rituals, scrubs and wraps.</a:t>
            </a:r>
            <a:endParaRPr lang="en-US" sz="1500" dirty="0"/>
          </a:p>
        </p:txBody>
      </p:sp>
      <p:pic>
        <p:nvPicPr>
          <p:cNvPr id="5" name="Image 0" descr="/tmp/claude-0/-home-user-KBSpa/fba49096-d8c8-5016-bfa2-c752ed8a675b/scratchpad/brochure/photos/web-bodyspa.jpg">    </p:cNvPr>
          <p:cNvPicPr>
            <a:picLocks noChangeAspect="1"/>
          </p:cNvPicPr>
          <p:nvPr/>
        </p:nvPicPr>
        <p:blipFill>
          <a:blip r:embed="rId1"/>
          <a:stretch>
            <a:fillRect/>
          </a:stretch>
        </p:blipFill>
        <p:spPr>
          <a:xfrm>
            <a:off x="548640" y="1143000"/>
            <a:ext cx="5212080" cy="5212080"/>
          </a:xfrm>
          <a:prstGeom prst="rect">
            <a:avLst/>
          </a:prstGeom>
        </p:spPr>
      </p:pic>
      <p:sp>
        <p:nvSpPr>
          <p:cNvPr id="6" name="Text 3"/>
          <p:cNvSpPr txBox="1"/>
          <p:nvPr/>
        </p:nvSpPr>
        <p:spPr>
          <a:xfrm>
            <a:off x="6309360" y="2359152"/>
            <a:ext cx="5212080" cy="777240"/>
          </a:xfrm>
          <a:prstGeom prst="rect">
            <a:avLst/>
          </a:prstGeom>
          <a:noFill/>
          <a:ln/>
        </p:spPr>
        <p:txBody>
          <a:bodyPr wrap="square" lIns="0" tIns="0" rIns="0" bIns="0" rtlCol="0" anchor="ctr"/>
          <a:lstStyle/>
          <a:p>
            <a:pPr indent="0" marL="0">
              <a:lnSpc>
                <a:spcPct val="122000"/>
              </a:lnSpc>
              <a:buNone/>
            </a:pPr>
            <a:r>
              <a:rPr lang="en-US" sz="1100" dirty="0">
                <a:solidFill>
                  <a:srgbClr val="3A3A38"/>
                </a:solidFill>
                <a:latin typeface="Calibri" pitchFamily="34" charset="0"/>
                <a:ea typeface="Calibri" pitchFamily="34" charset="-122"/>
                <a:cs typeface="Calibri" pitchFamily="34" charset="-120"/>
              </a:rPr>
              <a:t>One unhurried ritual for the whole body: a full exfoliation that leaves skin visibly smoother, followed by a calming massage to finish. A good choice before a special occasion, or simply when your skin needs the attention.</a:t>
            </a:r>
            <a:endParaRPr lang="en-US" sz="1100" dirty="0"/>
          </a:p>
        </p:txBody>
      </p:sp>
      <p:sp>
        <p:nvSpPr>
          <p:cNvPr id="7" name="Text 4"/>
          <p:cNvSpPr txBox="1"/>
          <p:nvPr/>
        </p:nvSpPr>
        <p:spPr>
          <a:xfrm>
            <a:off x="6309360" y="3200400"/>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Body Scrub (45 min)</a:t>
            </a:r>
            <a:endParaRPr lang="en-US" sz="1500" dirty="0"/>
          </a:p>
        </p:txBody>
      </p:sp>
      <p:sp>
        <p:nvSpPr>
          <p:cNvPr id="8" name="Text 5"/>
          <p:cNvSpPr txBox="1"/>
          <p:nvPr/>
        </p:nvSpPr>
        <p:spPr>
          <a:xfrm>
            <a:off x="10058400" y="3200400"/>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1,500</a:t>
            </a:r>
            <a:endParaRPr lang="en-US" sz="1500" dirty="0"/>
          </a:p>
        </p:txBody>
      </p:sp>
      <p:sp>
        <p:nvSpPr>
          <p:cNvPr id="9" name="Shape 6"/>
          <p:cNvSpPr/>
          <p:nvPr/>
        </p:nvSpPr>
        <p:spPr>
          <a:xfrm>
            <a:off x="6309360" y="3502152"/>
            <a:ext cx="5212080" cy="0"/>
          </a:xfrm>
          <a:prstGeom prst="line">
            <a:avLst/>
          </a:prstGeom>
          <a:noFill/>
          <a:ln w="12700">
            <a:solidFill>
              <a:srgbClr val="F2EDE4"/>
            </a:solidFill>
            <a:prstDash val="solid"/>
          </a:ln>
        </p:spPr>
      </p:sp>
      <p:sp>
        <p:nvSpPr>
          <p:cNvPr id="10" name="Text 7"/>
          <p:cNvSpPr txBox="1"/>
          <p:nvPr/>
        </p:nvSpPr>
        <p:spPr>
          <a:xfrm>
            <a:off x="6309360" y="3657600"/>
            <a:ext cx="5212080" cy="320040"/>
          </a:xfrm>
          <a:prstGeom prst="rect">
            <a:avLst/>
          </a:prstGeom>
          <a:noFill/>
          <a:ln/>
        </p:spPr>
        <p:txBody>
          <a:bodyPr wrap="square" lIns="0" tIns="0" rIns="0" bIns="0" rtlCol="0" anchor="ctr"/>
          <a:lstStyle/>
          <a:p>
            <a:pPr indent="0" marL="0">
              <a:buNone/>
            </a:pPr>
            <a:r>
              <a:rPr lang="en-US" sz="1250" dirty="0">
                <a:solidFill>
                  <a:srgbClr val="3A3A38"/>
                </a:solidFill>
                <a:latin typeface="Calibri" pitchFamily="34" charset="0"/>
                <a:ea typeface="Calibri" pitchFamily="34" charset="-122"/>
                <a:cs typeface="Calibri" pitchFamily="34" charset="-120"/>
              </a:rPr>
              <a:t>Full-body exfoliation</a:t>
            </a:r>
            <a:pPr indent="0" marL="0">
              <a:buNone/>
            </a:pPr>
            <a:r>
              <a:rPr lang="en-US" sz="1250" dirty="0">
                <a:solidFill>
                  <a:srgbClr val="C9A227"/>
                </a:solidFill>
                <a:latin typeface="Calibri" pitchFamily="34" charset="0"/>
                <a:ea typeface="Calibri" pitchFamily="34" charset="-122"/>
                <a:cs typeface="Calibri" pitchFamily="34" charset="-120"/>
              </a:rPr>
              <a:t>    ·    </a:t>
            </a:r>
            <a:pPr indent="0" marL="0">
              <a:buNone/>
            </a:pPr>
            <a:r>
              <a:rPr lang="en-US" sz="1250" dirty="0">
                <a:solidFill>
                  <a:srgbClr val="3A3A38"/>
                </a:solidFill>
                <a:latin typeface="Calibri" pitchFamily="34" charset="0"/>
                <a:ea typeface="Calibri" pitchFamily="34" charset="-122"/>
                <a:cs typeface="Calibri" pitchFamily="34" charset="-120"/>
              </a:rPr>
              <a:t>Smoother, softer skin</a:t>
            </a:r>
            <a:pPr indent="0" marL="0">
              <a:buNone/>
            </a:pPr>
            <a:r>
              <a:rPr lang="en-US" sz="1250" dirty="0">
                <a:solidFill>
                  <a:srgbClr val="C9A227"/>
                </a:solidFill>
                <a:latin typeface="Calibri" pitchFamily="34" charset="0"/>
                <a:ea typeface="Calibri" pitchFamily="34" charset="-122"/>
                <a:cs typeface="Calibri" pitchFamily="34" charset="-120"/>
              </a:rPr>
              <a:t>    ·    </a:t>
            </a:r>
            <a:pPr indent="0" marL="0">
              <a:buNone/>
            </a:pPr>
            <a:r>
              <a:rPr lang="en-US" sz="1250" dirty="0">
                <a:solidFill>
                  <a:srgbClr val="3A3A38"/>
                </a:solidFill>
                <a:latin typeface="Calibri" pitchFamily="34" charset="0"/>
                <a:ea typeface="Calibri" pitchFamily="34" charset="-122"/>
                <a:cs typeface="Calibri" pitchFamily="34" charset="-120"/>
              </a:rPr>
              <a:t>Finishing massage</a:t>
            </a:r>
            <a:endParaRPr lang="en-US" sz="1250" dirty="0"/>
          </a:p>
        </p:txBody>
      </p:sp>
      <p:sp>
        <p:nvSpPr>
          <p:cNvPr id="11" name="Text 1"/>
          <p:cNvSpPr/>
          <p:nvPr>
            <p:ph idx="101" type="body" hasCustomPrompt="1"/>
          </p:nvPr>
        </p:nvSpPr>
        <p:spPr>
          <a:xfrm>
            <a:off x="640080" y="6419088"/>
            <a:ext cx="7315200" cy="274320"/>
          </a:xfrm>
          <a:prstGeom prst="rect">
            <a:avLst/>
          </a:prstGeom>
          <a:noFill/>
          <a:ln/>
        </p:spPr>
        <p:txBody>
          <a:bodyPr wrap="square" rtlCol="0" anchor="ctr"/>
          <a:lstStyle/>
          <a:p>
            <a:pPr indent="0" marL="0">
              <a:buNone/>
            </a:pPr>
            <a:endParaRPr lang="en-US" sz="900" dirty="0"/>
          </a:p>
        </p:txBody>
      </p:sp>
      <p:sp>
        <p:nvSpPr>
          <p:cNvPr id="12" name="Text 1"/>
          <p:cNvSpPr/>
          <p:nvPr>
            <p:ph idx="102" type="body" hasCustomPrompt="1"/>
          </p:nvPr>
        </p:nvSpPr>
        <p:spPr>
          <a:xfrm>
            <a:off x="8808415" y="6419088"/>
            <a:ext cx="2743200" cy="274320"/>
          </a:xfrm>
          <a:prstGeom prst="rect">
            <a:avLst/>
          </a:prstGeom>
          <a:noFill/>
          <a:ln/>
        </p:spPr>
        <p:txBody>
          <a:bodyPr wrap="square" rtlCol="0" anchor="ctr"/>
          <a:lstStyle/>
          <a:p>
            <a:pPr algn="r" indent="0" marL="0">
              <a:buNone/>
            </a:pPr>
            <a:endParaRPr lang="en-US" sz="900" dirty="0"/>
          </a:p>
        </p:txBody>
      </p:sp>
      <p:sp>
        <p:nvSpPr>
          <p:cNvPr id="13" name="Text 1"/>
          <p:cNvSpPr/>
          <p:nvPr>
            <p:ph idx="106" hasCustomPrompt="1"/>
          </p:nvPr>
        </p:nvSpPr>
        <p:spPr>
          <a:xfrm>
            <a:off x="548640" y="1143000"/>
            <a:ext cx="5212080" cy="5212080"/>
          </a:xfrm>
          <a:prstGeom prst="rect">
            <a:avLst/>
          </a:prstGeom>
          <a:noFill/>
          <a:ln/>
        </p:spPr>
        <p:txBody>
          <a:bodyPr wrap="square" rtlCol="0"/>
          <a:lstStyle/>
          <a:p>
            <a:pPr indent="0" marL="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body" hasCustomPrompt="1"/>
          </p:nvPr>
        </p:nvSpPr>
        <p:spPr>
          <a:xfrm>
            <a:off x="640080" y="1005840"/>
            <a:ext cx="5212080" cy="274320"/>
          </a:xfrm>
          <a:prstGeom prst="rect">
            <a:avLst/>
          </a:prstGeom>
          <a:noFill/>
          <a:ln/>
        </p:spPr>
        <p:txBody>
          <a:bodyPr wrap="square" rtlCol="0"/>
          <a:lstStyle/>
          <a:p>
            <a:pPr indent="0" marL="0">
              <a:buNone/>
            </a:pPr>
            <a:r>
              <a:rPr lang="en-US" sz="1100" b="1" spc="300" kern="0" dirty="0">
                <a:solidFill>
                  <a:srgbClr val="86691A"/>
                </a:solidFill>
                <a:latin typeface="Calibri" pitchFamily="34" charset="0"/>
                <a:ea typeface="Calibri" pitchFamily="34" charset="-122"/>
                <a:cs typeface="Calibri" pitchFamily="34" charset="-120"/>
              </a:rPr>
              <a:t>SPA MENU</a:t>
            </a:r>
            <a:endParaRPr lang="en-US" sz="1100" dirty="0"/>
          </a:p>
        </p:txBody>
      </p:sp>
      <p:sp>
        <p:nvSpPr>
          <p:cNvPr id="3" name="Text 1"/>
          <p:cNvSpPr/>
          <p:nvPr>
            <p:ph idx="104" type="title" hasCustomPrompt="1"/>
          </p:nvPr>
        </p:nvSpPr>
        <p:spPr>
          <a:xfrm>
            <a:off x="640080" y="1280160"/>
            <a:ext cx="5212080" cy="685800"/>
          </a:xfrm>
          <a:prstGeom prst="rect">
            <a:avLst/>
          </a:prstGeom>
          <a:noFill/>
          <a:ln/>
        </p:spPr>
        <p:txBody>
          <a:bodyPr wrap="square" rtlCol="0" anchor="t"/>
          <a:lstStyle/>
          <a:p>
            <a:pPr indent="0" marL="0">
              <a:buNone/>
            </a:pPr>
            <a:r>
              <a:rPr lang="en-US" sz="4000" dirty="0">
                <a:solidFill>
                  <a:srgbClr val="1B1A18"/>
                </a:solidFill>
                <a:latin typeface="Cambria" pitchFamily="34" charset="0"/>
                <a:ea typeface="Cambria" pitchFamily="34" charset="-122"/>
                <a:cs typeface="Cambria" pitchFamily="34" charset="-120"/>
              </a:rPr>
              <a:t>Waxing</a:t>
            </a:r>
            <a:endParaRPr lang="en-US" sz="4000" dirty="0"/>
          </a:p>
        </p:txBody>
      </p:sp>
      <p:sp>
        <p:nvSpPr>
          <p:cNvPr id="4" name="Text 1"/>
          <p:cNvSpPr/>
          <p:nvPr>
            <p:ph idx="105" type="body" hasCustomPrompt="1"/>
          </p:nvPr>
        </p:nvSpPr>
        <p:spPr>
          <a:xfrm>
            <a:off x="640080" y="1965960"/>
            <a:ext cx="5212080" cy="411480"/>
          </a:xfrm>
          <a:prstGeom prst="rect">
            <a:avLst/>
          </a:prstGeom>
          <a:noFill/>
          <a:ln/>
        </p:spPr>
        <p:txBody>
          <a:bodyPr wrap="square" rtlCol="0"/>
          <a:lstStyle/>
          <a:p>
            <a:pPr indent="0" marL="0">
              <a:buNone/>
            </a:pPr>
            <a:r>
              <a:rPr lang="en-US" sz="1500" i="1" dirty="0">
                <a:solidFill>
                  <a:srgbClr val="3A3A38"/>
                </a:solidFill>
                <a:latin typeface="Cambria" pitchFamily="34" charset="0"/>
                <a:ea typeface="Cambria" pitchFamily="34" charset="-122"/>
                <a:cs typeface="Cambria" pitchFamily="34" charset="-120"/>
              </a:rPr>
              <a:t>Gentle, precise hair removal.</a:t>
            </a:r>
            <a:endParaRPr lang="en-US" sz="1500" dirty="0"/>
          </a:p>
        </p:txBody>
      </p:sp>
      <p:pic>
        <p:nvPicPr>
          <p:cNvPr id="5" name="Image 0" descr="/tmp/claude-0/-home-user-KBSpa/fba49096-d8c8-5016-bfa2-c752ed8a675b/scratchpad/brochure/photos/web-waxing.jpg">    </p:cNvPr>
          <p:cNvPicPr>
            <a:picLocks noChangeAspect="1"/>
          </p:cNvPicPr>
          <p:nvPr/>
        </p:nvPicPr>
        <p:blipFill>
          <a:blip r:embed="rId1"/>
          <a:stretch>
            <a:fillRect/>
          </a:stretch>
        </p:blipFill>
        <p:spPr>
          <a:xfrm>
            <a:off x="6400800" y="1143000"/>
            <a:ext cx="5212080" cy="5212080"/>
          </a:xfrm>
          <a:prstGeom prst="rect">
            <a:avLst/>
          </a:prstGeom>
        </p:spPr>
      </p:pic>
      <p:sp>
        <p:nvSpPr>
          <p:cNvPr id="6" name="Text 3"/>
          <p:cNvSpPr txBox="1"/>
          <p:nvPr/>
        </p:nvSpPr>
        <p:spPr>
          <a:xfrm>
            <a:off x="6400800" y="960120"/>
            <a:ext cx="1371600" cy="365760"/>
          </a:xfrm>
          <a:prstGeom prst="roundRect">
            <a:avLst>
              <a:gd name="adj" fmla="val 50000"/>
            </a:avLst>
          </a:prstGeom>
          <a:solidFill>
            <a:srgbClr val="1B1A18"/>
          </a:solidFill>
          <a:ln/>
        </p:spPr>
        <p:txBody>
          <a:bodyPr wrap="square" lIns="0" tIns="0" rIns="0" bIns="0" rtlCol="0" anchor="ctr"/>
          <a:lstStyle/>
          <a:p>
            <a:pPr algn="ctr" indent="0" marL="0">
              <a:buNone/>
            </a:pPr>
            <a:r>
              <a:rPr lang="en-US" sz="1000" b="1" spc="100" kern="0" dirty="0">
                <a:solidFill>
                  <a:srgbClr val="FDFCFA"/>
                </a:solidFill>
                <a:latin typeface="Calibri" pitchFamily="34" charset="0"/>
                <a:ea typeface="Calibri" pitchFamily="34" charset="-122"/>
                <a:cs typeface="Calibri" pitchFamily="34" charset="-120"/>
              </a:rPr>
              <a:t>BEST SELLER</a:t>
            </a:r>
            <a:endParaRPr lang="en-US" sz="1000" dirty="0"/>
          </a:p>
        </p:txBody>
      </p:sp>
      <p:sp>
        <p:nvSpPr>
          <p:cNvPr id="7" name="Text 4"/>
          <p:cNvSpPr txBox="1"/>
          <p:nvPr/>
        </p:nvSpPr>
        <p:spPr>
          <a:xfrm>
            <a:off x="640080" y="2359152"/>
            <a:ext cx="5212080" cy="777240"/>
          </a:xfrm>
          <a:prstGeom prst="rect">
            <a:avLst/>
          </a:prstGeom>
          <a:noFill/>
          <a:ln/>
        </p:spPr>
        <p:txBody>
          <a:bodyPr wrap="square" lIns="0" tIns="0" rIns="0" bIns="0" rtlCol="0" anchor="ctr"/>
          <a:lstStyle/>
          <a:p>
            <a:pPr indent="0" marL="0">
              <a:lnSpc>
                <a:spcPct val="122000"/>
              </a:lnSpc>
              <a:buNone/>
            </a:pPr>
            <a:r>
              <a:rPr lang="en-US" sz="1100" dirty="0">
                <a:solidFill>
                  <a:srgbClr val="3A3A38"/>
                </a:solidFill>
                <a:latin typeface="Calibri" pitchFamily="34" charset="0"/>
                <a:ea typeface="Calibri" pitchFamily="34" charset="-122"/>
                <a:cs typeface="Calibri" pitchFamily="34" charset="-120"/>
              </a:rPr>
              <a:t>Smooth, lasting results with care taken at every step. Come in for a quick underarm appointment, or set aside time for a full-body session — either way, it's performed privately and at your pace.</a:t>
            </a:r>
            <a:endParaRPr lang="en-US" sz="1100" dirty="0"/>
          </a:p>
        </p:txBody>
      </p:sp>
      <p:sp>
        <p:nvSpPr>
          <p:cNvPr id="8" name="Text 5"/>
          <p:cNvSpPr txBox="1"/>
          <p:nvPr/>
        </p:nvSpPr>
        <p:spPr>
          <a:xfrm>
            <a:off x="640080" y="3200400"/>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Full Body Waxing</a:t>
            </a:r>
            <a:endParaRPr lang="en-US" sz="1500" dirty="0"/>
          </a:p>
        </p:txBody>
      </p:sp>
      <p:sp>
        <p:nvSpPr>
          <p:cNvPr id="9" name="Text 6"/>
          <p:cNvSpPr txBox="1"/>
          <p:nvPr/>
        </p:nvSpPr>
        <p:spPr>
          <a:xfrm>
            <a:off x="4389120" y="3200400"/>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3,500</a:t>
            </a:r>
            <a:endParaRPr lang="en-US" sz="1500" dirty="0"/>
          </a:p>
        </p:txBody>
      </p:sp>
      <p:sp>
        <p:nvSpPr>
          <p:cNvPr id="10" name="Shape 7"/>
          <p:cNvSpPr/>
          <p:nvPr/>
        </p:nvSpPr>
        <p:spPr>
          <a:xfrm>
            <a:off x="640080" y="3502152"/>
            <a:ext cx="5212080" cy="0"/>
          </a:xfrm>
          <a:prstGeom prst="line">
            <a:avLst/>
          </a:prstGeom>
          <a:noFill/>
          <a:ln w="12700">
            <a:solidFill>
              <a:srgbClr val="F2EDE4"/>
            </a:solidFill>
            <a:prstDash val="solid"/>
          </a:ln>
        </p:spPr>
      </p:sp>
      <p:sp>
        <p:nvSpPr>
          <p:cNvPr id="11" name="Text 8"/>
          <p:cNvSpPr txBox="1"/>
          <p:nvPr/>
        </p:nvSpPr>
        <p:spPr>
          <a:xfrm>
            <a:off x="3337560" y="3200400"/>
            <a:ext cx="960120" cy="237744"/>
          </a:xfrm>
          <a:prstGeom prst="roundRect">
            <a:avLst>
              <a:gd name="adj" fmla="val 50000"/>
            </a:avLst>
          </a:prstGeom>
          <a:solidFill>
            <a:srgbClr val="F5EDCE"/>
          </a:solidFill>
          <a:ln/>
        </p:spPr>
        <p:txBody>
          <a:bodyPr wrap="square" lIns="0" tIns="0" rIns="0" bIns="0" rtlCol="0" anchor="ctr"/>
          <a:lstStyle/>
          <a:p>
            <a:pPr algn="ctr" indent="0" marL="0">
              <a:buNone/>
            </a:pPr>
            <a:r>
              <a:rPr lang="en-US" sz="800" b="1" dirty="0">
                <a:solidFill>
                  <a:srgbClr val="86691A"/>
                </a:solidFill>
                <a:latin typeface="Calibri" pitchFamily="34" charset="0"/>
                <a:ea typeface="Calibri" pitchFamily="34" charset="-122"/>
                <a:cs typeface="Calibri" pitchFamily="34" charset="-120"/>
              </a:rPr>
              <a:t>SIGNATURE</a:t>
            </a:r>
            <a:endParaRPr lang="en-US" sz="800" dirty="0"/>
          </a:p>
        </p:txBody>
      </p:sp>
      <p:sp>
        <p:nvSpPr>
          <p:cNvPr id="12" name="Text 9"/>
          <p:cNvSpPr txBox="1"/>
          <p:nvPr/>
        </p:nvSpPr>
        <p:spPr>
          <a:xfrm>
            <a:off x="640080" y="3547872"/>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Bikini Waxing</a:t>
            </a:r>
            <a:endParaRPr lang="en-US" sz="1500" dirty="0"/>
          </a:p>
        </p:txBody>
      </p:sp>
      <p:sp>
        <p:nvSpPr>
          <p:cNvPr id="13" name="Text 10"/>
          <p:cNvSpPr txBox="1"/>
          <p:nvPr/>
        </p:nvSpPr>
        <p:spPr>
          <a:xfrm>
            <a:off x="4389120" y="3547872"/>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1,800</a:t>
            </a:r>
            <a:endParaRPr lang="en-US" sz="1500" dirty="0"/>
          </a:p>
        </p:txBody>
      </p:sp>
      <p:sp>
        <p:nvSpPr>
          <p:cNvPr id="14" name="Shape 11"/>
          <p:cNvSpPr/>
          <p:nvPr/>
        </p:nvSpPr>
        <p:spPr>
          <a:xfrm>
            <a:off x="640080" y="3849624"/>
            <a:ext cx="5212080" cy="0"/>
          </a:xfrm>
          <a:prstGeom prst="line">
            <a:avLst/>
          </a:prstGeom>
          <a:noFill/>
          <a:ln w="12700">
            <a:solidFill>
              <a:srgbClr val="F2EDE4"/>
            </a:solidFill>
            <a:prstDash val="solid"/>
          </a:ln>
        </p:spPr>
      </p:sp>
      <p:sp>
        <p:nvSpPr>
          <p:cNvPr id="15" name="Text 12"/>
          <p:cNvSpPr txBox="1"/>
          <p:nvPr/>
        </p:nvSpPr>
        <p:spPr>
          <a:xfrm>
            <a:off x="640080" y="3895344"/>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Leg Waxing</a:t>
            </a:r>
            <a:endParaRPr lang="en-US" sz="1500" dirty="0"/>
          </a:p>
        </p:txBody>
      </p:sp>
      <p:sp>
        <p:nvSpPr>
          <p:cNvPr id="16" name="Text 13"/>
          <p:cNvSpPr txBox="1"/>
          <p:nvPr/>
        </p:nvSpPr>
        <p:spPr>
          <a:xfrm>
            <a:off x="4389120" y="3895344"/>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From Nu. 150</a:t>
            </a:r>
            <a:endParaRPr lang="en-US" sz="1500" dirty="0"/>
          </a:p>
        </p:txBody>
      </p:sp>
      <p:sp>
        <p:nvSpPr>
          <p:cNvPr id="17" name="Shape 14"/>
          <p:cNvSpPr/>
          <p:nvPr/>
        </p:nvSpPr>
        <p:spPr>
          <a:xfrm>
            <a:off x="640080" y="4197096"/>
            <a:ext cx="5212080" cy="0"/>
          </a:xfrm>
          <a:prstGeom prst="line">
            <a:avLst/>
          </a:prstGeom>
          <a:noFill/>
          <a:ln w="12700">
            <a:solidFill>
              <a:srgbClr val="F2EDE4"/>
            </a:solidFill>
            <a:prstDash val="solid"/>
          </a:ln>
        </p:spPr>
      </p:sp>
      <p:sp>
        <p:nvSpPr>
          <p:cNvPr id="18" name="Text 15"/>
          <p:cNvSpPr txBox="1"/>
          <p:nvPr/>
        </p:nvSpPr>
        <p:spPr>
          <a:xfrm>
            <a:off x="640080" y="4242816"/>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Arm Waxing</a:t>
            </a:r>
            <a:endParaRPr lang="en-US" sz="1500" dirty="0"/>
          </a:p>
        </p:txBody>
      </p:sp>
      <p:sp>
        <p:nvSpPr>
          <p:cNvPr id="19" name="Text 16"/>
          <p:cNvSpPr txBox="1"/>
          <p:nvPr/>
        </p:nvSpPr>
        <p:spPr>
          <a:xfrm>
            <a:off x="4389120" y="4242816"/>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From Nu. 150</a:t>
            </a:r>
            <a:endParaRPr lang="en-US" sz="1500" dirty="0"/>
          </a:p>
        </p:txBody>
      </p:sp>
      <p:sp>
        <p:nvSpPr>
          <p:cNvPr id="20" name="Shape 17"/>
          <p:cNvSpPr/>
          <p:nvPr/>
        </p:nvSpPr>
        <p:spPr>
          <a:xfrm>
            <a:off x="640080" y="4544568"/>
            <a:ext cx="5212080" cy="0"/>
          </a:xfrm>
          <a:prstGeom prst="line">
            <a:avLst/>
          </a:prstGeom>
          <a:noFill/>
          <a:ln w="12700">
            <a:solidFill>
              <a:srgbClr val="F2EDE4"/>
            </a:solidFill>
            <a:prstDash val="solid"/>
          </a:ln>
        </p:spPr>
      </p:sp>
      <p:sp>
        <p:nvSpPr>
          <p:cNvPr id="21" name="Text 18"/>
          <p:cNvSpPr txBox="1"/>
          <p:nvPr/>
        </p:nvSpPr>
        <p:spPr>
          <a:xfrm>
            <a:off x="640080" y="4590288"/>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Under Arm Waxing</a:t>
            </a:r>
            <a:endParaRPr lang="en-US" sz="1500" dirty="0"/>
          </a:p>
        </p:txBody>
      </p:sp>
      <p:sp>
        <p:nvSpPr>
          <p:cNvPr id="22" name="Text 19"/>
          <p:cNvSpPr txBox="1"/>
          <p:nvPr/>
        </p:nvSpPr>
        <p:spPr>
          <a:xfrm>
            <a:off x="4389120" y="4590288"/>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100</a:t>
            </a:r>
            <a:endParaRPr lang="en-US" sz="1500" dirty="0"/>
          </a:p>
        </p:txBody>
      </p:sp>
      <p:sp>
        <p:nvSpPr>
          <p:cNvPr id="23" name="Shape 20"/>
          <p:cNvSpPr/>
          <p:nvPr/>
        </p:nvSpPr>
        <p:spPr>
          <a:xfrm>
            <a:off x="640080" y="4892040"/>
            <a:ext cx="5212080" cy="0"/>
          </a:xfrm>
          <a:prstGeom prst="line">
            <a:avLst/>
          </a:prstGeom>
          <a:noFill/>
          <a:ln w="12700">
            <a:solidFill>
              <a:srgbClr val="F2EDE4"/>
            </a:solidFill>
            <a:prstDash val="solid"/>
          </a:ln>
        </p:spPr>
      </p:sp>
      <p:sp>
        <p:nvSpPr>
          <p:cNvPr id="24" name="Text 1"/>
          <p:cNvSpPr/>
          <p:nvPr>
            <p:ph idx="101" type="body" hasCustomPrompt="1"/>
          </p:nvPr>
        </p:nvSpPr>
        <p:spPr>
          <a:xfrm>
            <a:off x="640080" y="6419088"/>
            <a:ext cx="7315200" cy="274320"/>
          </a:xfrm>
          <a:prstGeom prst="rect">
            <a:avLst/>
          </a:prstGeom>
          <a:noFill/>
          <a:ln/>
        </p:spPr>
        <p:txBody>
          <a:bodyPr wrap="square" rtlCol="0" anchor="ctr"/>
          <a:lstStyle/>
          <a:p>
            <a:pPr indent="0" marL="0">
              <a:buNone/>
            </a:pPr>
            <a:endParaRPr lang="en-US" sz="900" dirty="0"/>
          </a:p>
        </p:txBody>
      </p:sp>
      <p:sp>
        <p:nvSpPr>
          <p:cNvPr id="25" name="Text 1"/>
          <p:cNvSpPr/>
          <p:nvPr>
            <p:ph idx="102" type="body" hasCustomPrompt="1"/>
          </p:nvPr>
        </p:nvSpPr>
        <p:spPr>
          <a:xfrm>
            <a:off x="8808415" y="6419088"/>
            <a:ext cx="2743200" cy="274320"/>
          </a:xfrm>
          <a:prstGeom prst="rect">
            <a:avLst/>
          </a:prstGeom>
          <a:noFill/>
          <a:ln/>
        </p:spPr>
        <p:txBody>
          <a:bodyPr wrap="square" rtlCol="0" anchor="ctr"/>
          <a:lstStyle/>
          <a:p>
            <a:pPr algn="r" indent="0" marL="0">
              <a:buNone/>
            </a:pPr>
            <a:endParaRPr lang="en-US" sz="900" dirty="0"/>
          </a:p>
        </p:txBody>
      </p:sp>
      <p:sp>
        <p:nvSpPr>
          <p:cNvPr id="26" name="Text 1"/>
          <p:cNvSpPr/>
          <p:nvPr>
            <p:ph idx="106" hasCustomPrompt="1"/>
          </p:nvPr>
        </p:nvSpPr>
        <p:spPr>
          <a:xfrm>
            <a:off x="6400800" y="1143000"/>
            <a:ext cx="5212080" cy="5212080"/>
          </a:xfrm>
          <a:prstGeom prst="rect">
            <a:avLst/>
          </a:prstGeom>
          <a:noFill/>
          <a:ln/>
        </p:spPr>
        <p:txBody>
          <a:bodyPr wrap="square" rtlCol="0"/>
          <a:lstStyle/>
          <a:p>
            <a:pPr indent="0" marL="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body" hasCustomPrompt="1"/>
          </p:nvPr>
        </p:nvSpPr>
        <p:spPr>
          <a:xfrm>
            <a:off x="6309360" y="1005840"/>
            <a:ext cx="5212080" cy="274320"/>
          </a:xfrm>
          <a:prstGeom prst="rect">
            <a:avLst/>
          </a:prstGeom>
          <a:noFill/>
          <a:ln/>
        </p:spPr>
        <p:txBody>
          <a:bodyPr wrap="square" rtlCol="0"/>
          <a:lstStyle/>
          <a:p>
            <a:pPr indent="0" marL="0">
              <a:buNone/>
            </a:pPr>
            <a:r>
              <a:rPr lang="en-US" sz="1100" b="1" spc="300" kern="0" dirty="0">
                <a:solidFill>
                  <a:srgbClr val="86691A"/>
                </a:solidFill>
                <a:latin typeface="Calibri" pitchFamily="34" charset="0"/>
                <a:ea typeface="Calibri" pitchFamily="34" charset="-122"/>
                <a:cs typeface="Calibri" pitchFamily="34" charset="-120"/>
              </a:rPr>
              <a:t>SPA MENU</a:t>
            </a:r>
            <a:endParaRPr lang="en-US" sz="1100" dirty="0"/>
          </a:p>
        </p:txBody>
      </p:sp>
      <p:sp>
        <p:nvSpPr>
          <p:cNvPr id="3" name="Text 1"/>
          <p:cNvSpPr/>
          <p:nvPr>
            <p:ph idx="104" type="title" hasCustomPrompt="1"/>
          </p:nvPr>
        </p:nvSpPr>
        <p:spPr>
          <a:xfrm>
            <a:off x="6309360" y="1280160"/>
            <a:ext cx="5212080" cy="685800"/>
          </a:xfrm>
          <a:prstGeom prst="rect">
            <a:avLst/>
          </a:prstGeom>
          <a:noFill/>
          <a:ln/>
        </p:spPr>
        <p:txBody>
          <a:bodyPr wrap="square" rtlCol="0" anchor="t"/>
          <a:lstStyle/>
          <a:p>
            <a:pPr indent="0" marL="0">
              <a:buNone/>
            </a:pPr>
            <a:r>
              <a:rPr lang="en-US" sz="4000" dirty="0">
                <a:solidFill>
                  <a:srgbClr val="1B1A18"/>
                </a:solidFill>
                <a:latin typeface="Cambria" pitchFamily="34" charset="0"/>
                <a:ea typeface="Cambria" pitchFamily="34" charset="-122"/>
                <a:cs typeface="Cambria" pitchFamily="34" charset="-120"/>
              </a:rPr>
              <a:t>Manicure</a:t>
            </a:r>
            <a:endParaRPr lang="en-US" sz="4000" dirty="0"/>
          </a:p>
        </p:txBody>
      </p:sp>
      <p:sp>
        <p:nvSpPr>
          <p:cNvPr id="4" name="Text 1"/>
          <p:cNvSpPr/>
          <p:nvPr>
            <p:ph idx="105" type="body" hasCustomPrompt="1"/>
          </p:nvPr>
        </p:nvSpPr>
        <p:spPr>
          <a:xfrm>
            <a:off x="6309360" y="1965960"/>
            <a:ext cx="5212080" cy="411480"/>
          </a:xfrm>
          <a:prstGeom prst="rect">
            <a:avLst/>
          </a:prstGeom>
          <a:noFill/>
          <a:ln/>
        </p:spPr>
        <p:txBody>
          <a:bodyPr wrap="square" rtlCol="0"/>
          <a:lstStyle/>
          <a:p>
            <a:pPr indent="0" marL="0">
              <a:buNone/>
            </a:pPr>
            <a:r>
              <a:rPr lang="en-US" sz="1500" i="1" dirty="0">
                <a:solidFill>
                  <a:srgbClr val="3A3A38"/>
                </a:solidFill>
                <a:latin typeface="Cambria" pitchFamily="34" charset="0"/>
                <a:ea typeface="Cambria" pitchFamily="34" charset="-122"/>
                <a:cs typeface="Cambria" pitchFamily="34" charset="-120"/>
              </a:rPr>
              <a:t>Hand and nail grooming.</a:t>
            </a:r>
            <a:endParaRPr lang="en-US" sz="1500" dirty="0"/>
          </a:p>
        </p:txBody>
      </p:sp>
      <p:pic>
        <p:nvPicPr>
          <p:cNvPr id="5" name="Image 0" descr="/tmp/claude-0/-home-user-KBSpa/fba49096-d8c8-5016-bfa2-c752ed8a675b/scratchpad/brochure/photos/web-manicure.jpg">    </p:cNvPr>
          <p:cNvPicPr>
            <a:picLocks noChangeAspect="1"/>
          </p:cNvPicPr>
          <p:nvPr/>
        </p:nvPicPr>
        <p:blipFill>
          <a:blip r:embed="rId1"/>
          <a:stretch>
            <a:fillRect/>
          </a:stretch>
        </p:blipFill>
        <p:spPr>
          <a:xfrm>
            <a:off x="548640" y="1143000"/>
            <a:ext cx="5212080" cy="5212080"/>
          </a:xfrm>
          <a:prstGeom prst="rect">
            <a:avLst/>
          </a:prstGeom>
        </p:spPr>
      </p:pic>
      <p:sp>
        <p:nvSpPr>
          <p:cNvPr id="6" name="Text 3"/>
          <p:cNvSpPr txBox="1"/>
          <p:nvPr/>
        </p:nvSpPr>
        <p:spPr>
          <a:xfrm>
            <a:off x="6309360" y="2359152"/>
            <a:ext cx="5212080" cy="777240"/>
          </a:xfrm>
          <a:prstGeom prst="rect">
            <a:avLst/>
          </a:prstGeom>
          <a:noFill/>
          <a:ln/>
        </p:spPr>
        <p:txBody>
          <a:bodyPr wrap="square" lIns="0" tIns="0" rIns="0" bIns="0" rtlCol="0" anchor="ctr"/>
          <a:lstStyle/>
          <a:p>
            <a:pPr indent="0" marL="0">
              <a:lnSpc>
                <a:spcPct val="122000"/>
              </a:lnSpc>
              <a:buNone/>
            </a:pPr>
            <a:r>
              <a:rPr lang="en-US" sz="1100" dirty="0">
                <a:solidFill>
                  <a:srgbClr val="3A3A38"/>
                </a:solidFill>
                <a:latin typeface="Calibri" pitchFamily="34" charset="0"/>
                <a:ea typeface="Calibri" pitchFamily="34" charset="-122"/>
                <a:cs typeface="Calibri" pitchFamily="34" charset="-120"/>
              </a:rPr>
              <a:t>Shaped, buffed and polished by hand, finished with a relaxing massage. Simple, unhurried care for hands that do a lot of work — book it on its own or pair it with a pedicure.</a:t>
            </a:r>
            <a:endParaRPr lang="en-US" sz="1100" dirty="0"/>
          </a:p>
        </p:txBody>
      </p:sp>
      <p:sp>
        <p:nvSpPr>
          <p:cNvPr id="7" name="Text 4"/>
          <p:cNvSpPr txBox="1"/>
          <p:nvPr/>
        </p:nvSpPr>
        <p:spPr>
          <a:xfrm>
            <a:off x="6309360" y="3200400"/>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Manicure (45 min)</a:t>
            </a:r>
            <a:endParaRPr lang="en-US" sz="1500" dirty="0"/>
          </a:p>
        </p:txBody>
      </p:sp>
      <p:sp>
        <p:nvSpPr>
          <p:cNvPr id="8" name="Text 5"/>
          <p:cNvSpPr txBox="1"/>
          <p:nvPr/>
        </p:nvSpPr>
        <p:spPr>
          <a:xfrm>
            <a:off x="10058400" y="3200400"/>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600</a:t>
            </a:r>
            <a:endParaRPr lang="en-US" sz="1500" dirty="0"/>
          </a:p>
        </p:txBody>
      </p:sp>
      <p:sp>
        <p:nvSpPr>
          <p:cNvPr id="9" name="Shape 6"/>
          <p:cNvSpPr/>
          <p:nvPr/>
        </p:nvSpPr>
        <p:spPr>
          <a:xfrm>
            <a:off x="6309360" y="3502152"/>
            <a:ext cx="5212080" cy="0"/>
          </a:xfrm>
          <a:prstGeom prst="line">
            <a:avLst/>
          </a:prstGeom>
          <a:noFill/>
          <a:ln w="12700">
            <a:solidFill>
              <a:srgbClr val="F2EDE4"/>
            </a:solidFill>
            <a:prstDash val="solid"/>
          </a:ln>
        </p:spPr>
      </p:sp>
      <p:sp>
        <p:nvSpPr>
          <p:cNvPr id="10" name="Text 7"/>
          <p:cNvSpPr txBox="1"/>
          <p:nvPr/>
        </p:nvSpPr>
        <p:spPr>
          <a:xfrm>
            <a:off x="6309360" y="3657600"/>
            <a:ext cx="5212080" cy="320040"/>
          </a:xfrm>
          <a:prstGeom prst="rect">
            <a:avLst/>
          </a:prstGeom>
          <a:noFill/>
          <a:ln/>
        </p:spPr>
        <p:txBody>
          <a:bodyPr wrap="square" lIns="0" tIns="0" rIns="0" bIns="0" rtlCol="0" anchor="ctr"/>
          <a:lstStyle/>
          <a:p>
            <a:pPr indent="0" marL="0">
              <a:buNone/>
            </a:pPr>
            <a:r>
              <a:rPr lang="en-US" sz="1250" dirty="0">
                <a:solidFill>
                  <a:srgbClr val="3A3A38"/>
                </a:solidFill>
                <a:latin typeface="Calibri" pitchFamily="34" charset="0"/>
                <a:ea typeface="Calibri" pitchFamily="34" charset="-122"/>
                <a:cs typeface="Calibri" pitchFamily="34" charset="-120"/>
              </a:rPr>
              <a:t>Shape &amp; cuticle care</a:t>
            </a:r>
            <a:pPr indent="0" marL="0">
              <a:buNone/>
            </a:pPr>
            <a:r>
              <a:rPr lang="en-US" sz="1250" dirty="0">
                <a:solidFill>
                  <a:srgbClr val="C9A227"/>
                </a:solidFill>
                <a:latin typeface="Calibri" pitchFamily="34" charset="0"/>
                <a:ea typeface="Calibri" pitchFamily="34" charset="-122"/>
                <a:cs typeface="Calibri" pitchFamily="34" charset="-120"/>
              </a:rPr>
              <a:t>    ·    </a:t>
            </a:r>
            <a:pPr indent="0" marL="0">
              <a:buNone/>
            </a:pPr>
            <a:r>
              <a:rPr lang="en-US" sz="1250" dirty="0">
                <a:solidFill>
                  <a:srgbClr val="3A3A38"/>
                </a:solidFill>
                <a:latin typeface="Calibri" pitchFamily="34" charset="0"/>
                <a:ea typeface="Calibri" pitchFamily="34" charset="-122"/>
                <a:cs typeface="Calibri" pitchFamily="34" charset="-120"/>
              </a:rPr>
              <a:t>Hand massage</a:t>
            </a:r>
            <a:pPr indent="0" marL="0">
              <a:buNone/>
            </a:pPr>
            <a:r>
              <a:rPr lang="en-US" sz="1250" dirty="0">
                <a:solidFill>
                  <a:srgbClr val="C9A227"/>
                </a:solidFill>
                <a:latin typeface="Calibri" pitchFamily="34" charset="0"/>
                <a:ea typeface="Calibri" pitchFamily="34" charset="-122"/>
                <a:cs typeface="Calibri" pitchFamily="34" charset="-120"/>
              </a:rPr>
              <a:t>    ·    </a:t>
            </a:r>
            <a:pPr indent="0" marL="0">
              <a:buNone/>
            </a:pPr>
            <a:r>
              <a:rPr lang="en-US" sz="1250" dirty="0">
                <a:solidFill>
                  <a:srgbClr val="3A3A38"/>
                </a:solidFill>
                <a:latin typeface="Calibri" pitchFamily="34" charset="0"/>
                <a:ea typeface="Calibri" pitchFamily="34" charset="-122"/>
                <a:cs typeface="Calibri" pitchFamily="34" charset="-120"/>
              </a:rPr>
              <a:t>Polish</a:t>
            </a:r>
            <a:endParaRPr lang="en-US" sz="1250" dirty="0"/>
          </a:p>
        </p:txBody>
      </p:sp>
      <p:sp>
        <p:nvSpPr>
          <p:cNvPr id="11" name="Text 1"/>
          <p:cNvSpPr/>
          <p:nvPr>
            <p:ph idx="101" type="body" hasCustomPrompt="1"/>
          </p:nvPr>
        </p:nvSpPr>
        <p:spPr>
          <a:xfrm>
            <a:off x="640080" y="6419088"/>
            <a:ext cx="7315200" cy="274320"/>
          </a:xfrm>
          <a:prstGeom prst="rect">
            <a:avLst/>
          </a:prstGeom>
          <a:noFill/>
          <a:ln/>
        </p:spPr>
        <p:txBody>
          <a:bodyPr wrap="square" rtlCol="0" anchor="ctr"/>
          <a:lstStyle/>
          <a:p>
            <a:pPr indent="0" marL="0">
              <a:buNone/>
            </a:pPr>
            <a:endParaRPr lang="en-US" sz="900" dirty="0"/>
          </a:p>
        </p:txBody>
      </p:sp>
      <p:sp>
        <p:nvSpPr>
          <p:cNvPr id="12" name="Text 1"/>
          <p:cNvSpPr/>
          <p:nvPr>
            <p:ph idx="102" type="body" hasCustomPrompt="1"/>
          </p:nvPr>
        </p:nvSpPr>
        <p:spPr>
          <a:xfrm>
            <a:off x="8808415" y="6419088"/>
            <a:ext cx="2743200" cy="274320"/>
          </a:xfrm>
          <a:prstGeom prst="rect">
            <a:avLst/>
          </a:prstGeom>
          <a:noFill/>
          <a:ln/>
        </p:spPr>
        <p:txBody>
          <a:bodyPr wrap="square" rtlCol="0" anchor="ctr"/>
          <a:lstStyle/>
          <a:p>
            <a:pPr algn="r" indent="0" marL="0">
              <a:buNone/>
            </a:pPr>
            <a:endParaRPr lang="en-US" sz="900" dirty="0"/>
          </a:p>
        </p:txBody>
      </p:sp>
      <p:sp>
        <p:nvSpPr>
          <p:cNvPr id="13" name="Text 1"/>
          <p:cNvSpPr/>
          <p:nvPr>
            <p:ph idx="106" hasCustomPrompt="1"/>
          </p:nvPr>
        </p:nvSpPr>
        <p:spPr>
          <a:xfrm>
            <a:off x="548640" y="1143000"/>
            <a:ext cx="5212080" cy="5212080"/>
          </a:xfrm>
          <a:prstGeom prst="rect">
            <a:avLst/>
          </a:prstGeom>
          <a:noFill/>
          <a:ln/>
        </p:spPr>
        <p:txBody>
          <a:bodyPr wrap="square" rtlCol="0"/>
          <a:lstStyle/>
          <a:p>
            <a:pPr indent="0" marL="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3" type="body" hasCustomPrompt="1"/>
          </p:nvPr>
        </p:nvSpPr>
        <p:spPr>
          <a:xfrm>
            <a:off x="640080" y="1005840"/>
            <a:ext cx="5212080" cy="274320"/>
          </a:xfrm>
          <a:prstGeom prst="rect">
            <a:avLst/>
          </a:prstGeom>
          <a:noFill/>
          <a:ln/>
        </p:spPr>
        <p:txBody>
          <a:bodyPr wrap="square" rtlCol="0"/>
          <a:lstStyle/>
          <a:p>
            <a:pPr indent="0" marL="0">
              <a:buNone/>
            </a:pPr>
            <a:r>
              <a:rPr lang="en-US" sz="1100" b="1" spc="300" kern="0" dirty="0">
                <a:solidFill>
                  <a:srgbClr val="86691A"/>
                </a:solidFill>
                <a:latin typeface="Calibri" pitchFamily="34" charset="0"/>
                <a:ea typeface="Calibri" pitchFamily="34" charset="-122"/>
                <a:cs typeface="Calibri" pitchFamily="34" charset="-120"/>
              </a:rPr>
              <a:t>SPA MENU</a:t>
            </a:r>
            <a:endParaRPr lang="en-US" sz="1100" dirty="0"/>
          </a:p>
        </p:txBody>
      </p:sp>
      <p:sp>
        <p:nvSpPr>
          <p:cNvPr id="3" name="Text 1"/>
          <p:cNvSpPr/>
          <p:nvPr>
            <p:ph idx="104" type="title" hasCustomPrompt="1"/>
          </p:nvPr>
        </p:nvSpPr>
        <p:spPr>
          <a:xfrm>
            <a:off x="640080" y="1280160"/>
            <a:ext cx="5212080" cy="685800"/>
          </a:xfrm>
          <a:prstGeom prst="rect">
            <a:avLst/>
          </a:prstGeom>
          <a:noFill/>
          <a:ln/>
        </p:spPr>
        <p:txBody>
          <a:bodyPr wrap="square" rtlCol="0" anchor="t"/>
          <a:lstStyle/>
          <a:p>
            <a:pPr indent="0" marL="0">
              <a:buNone/>
            </a:pPr>
            <a:r>
              <a:rPr lang="en-US" sz="4000" dirty="0">
                <a:solidFill>
                  <a:srgbClr val="1B1A18"/>
                </a:solidFill>
                <a:latin typeface="Cambria" pitchFamily="34" charset="0"/>
                <a:ea typeface="Cambria" pitchFamily="34" charset="-122"/>
                <a:cs typeface="Cambria" pitchFamily="34" charset="-120"/>
              </a:rPr>
              <a:t>Pedicure</a:t>
            </a:r>
            <a:endParaRPr lang="en-US" sz="4000" dirty="0"/>
          </a:p>
        </p:txBody>
      </p:sp>
      <p:sp>
        <p:nvSpPr>
          <p:cNvPr id="4" name="Text 1"/>
          <p:cNvSpPr/>
          <p:nvPr>
            <p:ph idx="105" type="body" hasCustomPrompt="1"/>
          </p:nvPr>
        </p:nvSpPr>
        <p:spPr>
          <a:xfrm>
            <a:off x="640080" y="1965960"/>
            <a:ext cx="5212080" cy="411480"/>
          </a:xfrm>
          <a:prstGeom prst="rect">
            <a:avLst/>
          </a:prstGeom>
          <a:noFill/>
          <a:ln/>
        </p:spPr>
        <p:txBody>
          <a:bodyPr wrap="square" rtlCol="0"/>
          <a:lstStyle/>
          <a:p>
            <a:pPr indent="0" marL="0">
              <a:buNone/>
            </a:pPr>
            <a:r>
              <a:rPr lang="en-US" sz="1500" i="1" dirty="0">
                <a:solidFill>
                  <a:srgbClr val="3A3A38"/>
                </a:solidFill>
                <a:latin typeface="Cambria" pitchFamily="34" charset="0"/>
                <a:ea typeface="Cambria" pitchFamily="34" charset="-122"/>
                <a:cs typeface="Cambria" pitchFamily="34" charset="-120"/>
              </a:rPr>
              <a:t>Restorative foot and nail treatments.</a:t>
            </a:r>
            <a:endParaRPr lang="en-US" sz="1500" dirty="0"/>
          </a:p>
        </p:txBody>
      </p:sp>
      <p:pic>
        <p:nvPicPr>
          <p:cNvPr id="5" name="Image 0" descr="/tmp/claude-0/-home-user-KBSpa/fba49096-d8c8-5016-bfa2-c752ed8a675b/scratchpad/brochure/photos/web-pedicure.jpg">    </p:cNvPr>
          <p:cNvPicPr>
            <a:picLocks noChangeAspect="1"/>
          </p:cNvPicPr>
          <p:nvPr/>
        </p:nvPicPr>
        <p:blipFill>
          <a:blip r:embed="rId1"/>
          <a:stretch>
            <a:fillRect/>
          </a:stretch>
        </p:blipFill>
        <p:spPr>
          <a:xfrm>
            <a:off x="6400800" y="1143000"/>
            <a:ext cx="5212080" cy="5212080"/>
          </a:xfrm>
          <a:prstGeom prst="rect">
            <a:avLst/>
          </a:prstGeom>
        </p:spPr>
      </p:pic>
      <p:sp>
        <p:nvSpPr>
          <p:cNvPr id="6" name="Text 3"/>
          <p:cNvSpPr txBox="1"/>
          <p:nvPr/>
        </p:nvSpPr>
        <p:spPr>
          <a:xfrm>
            <a:off x="640080" y="2359152"/>
            <a:ext cx="5212080" cy="777240"/>
          </a:xfrm>
          <a:prstGeom prst="rect">
            <a:avLst/>
          </a:prstGeom>
          <a:noFill/>
          <a:ln/>
        </p:spPr>
        <p:txBody>
          <a:bodyPr wrap="square" lIns="0" tIns="0" rIns="0" bIns="0" rtlCol="0" anchor="ctr"/>
          <a:lstStyle/>
          <a:p>
            <a:pPr indent="0" marL="0">
              <a:lnSpc>
                <a:spcPct val="122000"/>
              </a:lnSpc>
              <a:buNone/>
            </a:pPr>
            <a:r>
              <a:rPr lang="en-US" sz="1100" dirty="0">
                <a:solidFill>
                  <a:srgbClr val="3A3A38"/>
                </a:solidFill>
                <a:latin typeface="Calibri" pitchFamily="34" charset="0"/>
                <a:ea typeface="Calibri" pitchFamily="34" charset="-122"/>
                <a:cs typeface="Calibri" pitchFamily="34" charset="-120"/>
              </a:rPr>
              <a:t>A proper reset for tired feet — a warm soak, careful callus care, massage and polish, done at a pace that actually lets you relax instead of rushing you out the door.</a:t>
            </a:r>
            <a:endParaRPr lang="en-US" sz="1100" dirty="0"/>
          </a:p>
        </p:txBody>
      </p:sp>
      <p:sp>
        <p:nvSpPr>
          <p:cNvPr id="7" name="Text 4"/>
          <p:cNvSpPr txBox="1"/>
          <p:nvPr/>
        </p:nvSpPr>
        <p:spPr>
          <a:xfrm>
            <a:off x="640080" y="3200400"/>
            <a:ext cx="3749040" cy="292608"/>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Pedicure (45 min)</a:t>
            </a:r>
            <a:endParaRPr lang="en-US" sz="1500" dirty="0"/>
          </a:p>
        </p:txBody>
      </p:sp>
      <p:sp>
        <p:nvSpPr>
          <p:cNvPr id="8" name="Text 5"/>
          <p:cNvSpPr txBox="1"/>
          <p:nvPr/>
        </p:nvSpPr>
        <p:spPr>
          <a:xfrm>
            <a:off x="4389120" y="3200400"/>
            <a:ext cx="1463040" cy="292608"/>
          </a:xfrm>
          <a:prstGeom prst="rect">
            <a:avLst/>
          </a:prstGeom>
          <a:noFill/>
          <a:ln/>
        </p:spPr>
        <p:txBody>
          <a:bodyPr wrap="square" lIns="0" tIns="0" rIns="0" bIns="0" rtlCol="0" anchor="ctr"/>
          <a:lstStyle/>
          <a:p>
            <a:pPr algn="r" indent="0" marL="0">
              <a:buNone/>
            </a:pPr>
            <a:r>
              <a:rPr lang="en-US" sz="1500" b="1" dirty="0">
                <a:solidFill>
                  <a:srgbClr val="86691A"/>
                </a:solidFill>
                <a:latin typeface="Cambria" pitchFamily="34" charset="0"/>
                <a:ea typeface="Cambria" pitchFamily="34" charset="-122"/>
                <a:cs typeface="Cambria" pitchFamily="34" charset="-120"/>
              </a:rPr>
              <a:t>Nu. 700</a:t>
            </a:r>
            <a:endParaRPr lang="en-US" sz="1500" dirty="0"/>
          </a:p>
        </p:txBody>
      </p:sp>
      <p:sp>
        <p:nvSpPr>
          <p:cNvPr id="9" name="Shape 6"/>
          <p:cNvSpPr/>
          <p:nvPr/>
        </p:nvSpPr>
        <p:spPr>
          <a:xfrm>
            <a:off x="640080" y="3502152"/>
            <a:ext cx="5212080" cy="0"/>
          </a:xfrm>
          <a:prstGeom prst="line">
            <a:avLst/>
          </a:prstGeom>
          <a:noFill/>
          <a:ln w="12700">
            <a:solidFill>
              <a:srgbClr val="F2EDE4"/>
            </a:solidFill>
            <a:prstDash val="solid"/>
          </a:ln>
        </p:spPr>
      </p:sp>
      <p:sp>
        <p:nvSpPr>
          <p:cNvPr id="10" name="Text 7"/>
          <p:cNvSpPr txBox="1"/>
          <p:nvPr/>
        </p:nvSpPr>
        <p:spPr>
          <a:xfrm>
            <a:off x="640080" y="3657600"/>
            <a:ext cx="5212080" cy="320040"/>
          </a:xfrm>
          <a:prstGeom prst="rect">
            <a:avLst/>
          </a:prstGeom>
          <a:noFill/>
          <a:ln/>
        </p:spPr>
        <p:txBody>
          <a:bodyPr wrap="square" lIns="0" tIns="0" rIns="0" bIns="0" rtlCol="0" anchor="ctr"/>
          <a:lstStyle/>
          <a:p>
            <a:pPr indent="0" marL="0">
              <a:buNone/>
            </a:pPr>
            <a:r>
              <a:rPr lang="en-US" sz="1250" dirty="0">
                <a:solidFill>
                  <a:srgbClr val="3A3A38"/>
                </a:solidFill>
                <a:latin typeface="Calibri" pitchFamily="34" charset="0"/>
                <a:ea typeface="Calibri" pitchFamily="34" charset="-122"/>
                <a:cs typeface="Calibri" pitchFamily="34" charset="-120"/>
              </a:rPr>
              <a:t>Soak</a:t>
            </a:r>
            <a:pPr indent="0" marL="0">
              <a:buNone/>
            </a:pPr>
            <a:r>
              <a:rPr lang="en-US" sz="1250" dirty="0">
                <a:solidFill>
                  <a:srgbClr val="C9A227"/>
                </a:solidFill>
                <a:latin typeface="Calibri" pitchFamily="34" charset="0"/>
                <a:ea typeface="Calibri" pitchFamily="34" charset="-122"/>
                <a:cs typeface="Calibri" pitchFamily="34" charset="-120"/>
              </a:rPr>
              <a:t>    ·    </a:t>
            </a:r>
            <a:pPr indent="0" marL="0">
              <a:buNone/>
            </a:pPr>
            <a:r>
              <a:rPr lang="en-US" sz="1250" dirty="0">
                <a:solidFill>
                  <a:srgbClr val="3A3A38"/>
                </a:solidFill>
                <a:latin typeface="Calibri" pitchFamily="34" charset="0"/>
                <a:ea typeface="Calibri" pitchFamily="34" charset="-122"/>
                <a:cs typeface="Calibri" pitchFamily="34" charset="-120"/>
              </a:rPr>
              <a:t>Callus care</a:t>
            </a:r>
            <a:pPr indent="0" marL="0">
              <a:buNone/>
            </a:pPr>
            <a:r>
              <a:rPr lang="en-US" sz="1250" dirty="0">
                <a:solidFill>
                  <a:srgbClr val="C9A227"/>
                </a:solidFill>
                <a:latin typeface="Calibri" pitchFamily="34" charset="0"/>
                <a:ea typeface="Calibri" pitchFamily="34" charset="-122"/>
                <a:cs typeface="Calibri" pitchFamily="34" charset="-120"/>
              </a:rPr>
              <a:t>    ·    </a:t>
            </a:r>
            <a:pPr indent="0" marL="0">
              <a:buNone/>
            </a:pPr>
            <a:r>
              <a:rPr lang="en-US" sz="1250" dirty="0">
                <a:solidFill>
                  <a:srgbClr val="3A3A38"/>
                </a:solidFill>
                <a:latin typeface="Calibri" pitchFamily="34" charset="0"/>
                <a:ea typeface="Calibri" pitchFamily="34" charset="-122"/>
                <a:cs typeface="Calibri" pitchFamily="34" charset="-120"/>
              </a:rPr>
              <a:t>Massage</a:t>
            </a:r>
            <a:pPr indent="0" marL="0">
              <a:buNone/>
            </a:pPr>
            <a:r>
              <a:rPr lang="en-US" sz="1250" dirty="0">
                <a:solidFill>
                  <a:srgbClr val="C9A227"/>
                </a:solidFill>
                <a:latin typeface="Calibri" pitchFamily="34" charset="0"/>
                <a:ea typeface="Calibri" pitchFamily="34" charset="-122"/>
                <a:cs typeface="Calibri" pitchFamily="34" charset="-120"/>
              </a:rPr>
              <a:t>    ·    </a:t>
            </a:r>
            <a:pPr indent="0" marL="0">
              <a:buNone/>
            </a:pPr>
            <a:r>
              <a:rPr lang="en-US" sz="1250" dirty="0">
                <a:solidFill>
                  <a:srgbClr val="3A3A38"/>
                </a:solidFill>
                <a:latin typeface="Calibri" pitchFamily="34" charset="0"/>
                <a:ea typeface="Calibri" pitchFamily="34" charset="-122"/>
                <a:cs typeface="Calibri" pitchFamily="34" charset="-120"/>
              </a:rPr>
              <a:t>Polish</a:t>
            </a:r>
            <a:endParaRPr lang="en-US" sz="1250" dirty="0"/>
          </a:p>
        </p:txBody>
      </p:sp>
      <p:sp>
        <p:nvSpPr>
          <p:cNvPr id="11" name="Text 1"/>
          <p:cNvSpPr/>
          <p:nvPr>
            <p:ph idx="101" type="body" hasCustomPrompt="1"/>
          </p:nvPr>
        </p:nvSpPr>
        <p:spPr>
          <a:xfrm>
            <a:off x="640080" y="6419088"/>
            <a:ext cx="7315200" cy="274320"/>
          </a:xfrm>
          <a:prstGeom prst="rect">
            <a:avLst/>
          </a:prstGeom>
          <a:noFill/>
          <a:ln/>
        </p:spPr>
        <p:txBody>
          <a:bodyPr wrap="square" rtlCol="0" anchor="ctr"/>
          <a:lstStyle/>
          <a:p>
            <a:pPr indent="0" marL="0">
              <a:buNone/>
            </a:pPr>
            <a:endParaRPr lang="en-US" sz="900" dirty="0"/>
          </a:p>
        </p:txBody>
      </p:sp>
      <p:sp>
        <p:nvSpPr>
          <p:cNvPr id="12" name="Text 1"/>
          <p:cNvSpPr/>
          <p:nvPr>
            <p:ph idx="102" type="body" hasCustomPrompt="1"/>
          </p:nvPr>
        </p:nvSpPr>
        <p:spPr>
          <a:xfrm>
            <a:off x="8808415" y="6419088"/>
            <a:ext cx="2743200" cy="274320"/>
          </a:xfrm>
          <a:prstGeom prst="rect">
            <a:avLst/>
          </a:prstGeom>
          <a:noFill/>
          <a:ln/>
        </p:spPr>
        <p:txBody>
          <a:bodyPr wrap="square" rtlCol="0" anchor="ctr"/>
          <a:lstStyle/>
          <a:p>
            <a:pPr algn="r" indent="0" marL="0">
              <a:buNone/>
            </a:pPr>
            <a:endParaRPr lang="en-US" sz="900" dirty="0"/>
          </a:p>
        </p:txBody>
      </p:sp>
      <p:sp>
        <p:nvSpPr>
          <p:cNvPr id="13" name="Text 1"/>
          <p:cNvSpPr/>
          <p:nvPr>
            <p:ph idx="106" hasCustomPrompt="1"/>
          </p:nvPr>
        </p:nvSpPr>
        <p:spPr>
          <a:xfrm>
            <a:off x="6400800" y="1143000"/>
            <a:ext cx="5212080" cy="5212080"/>
          </a:xfrm>
          <a:prstGeom prst="rect">
            <a:avLst/>
          </a:prstGeom>
          <a:noFill/>
          <a:ln/>
        </p:spPr>
        <p:txBody>
          <a:bodyPr wrap="square" rtlCol="0"/>
          <a:lstStyle/>
          <a:p>
            <a:pPr indent="0" marL="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822960"/>
            <a:ext cx="5486400" cy="685800"/>
          </a:xfrm>
          <a:prstGeom prst="rect">
            <a:avLst/>
          </a:prstGeom>
          <a:noFill/>
          <a:ln/>
        </p:spPr>
        <p:txBody>
          <a:bodyPr wrap="square" lIns="0" tIns="0" rIns="0" bIns="0" rtlCol="0" anchor="ctr"/>
          <a:lstStyle/>
          <a:p>
            <a:pPr indent="0" marL="0">
              <a:buNone/>
            </a:pPr>
            <a:r>
              <a:rPr lang="en-US" sz="3800" dirty="0">
                <a:solidFill>
                  <a:srgbClr val="1B1A18"/>
                </a:solidFill>
                <a:latin typeface="Cambria" pitchFamily="34" charset="0"/>
                <a:ea typeface="Cambria" pitchFamily="34" charset="-122"/>
                <a:cs typeface="Cambria" pitchFamily="34" charset="-120"/>
              </a:rPr>
              <a:t>Visit Us</a:t>
            </a:r>
            <a:endParaRPr lang="en-US" sz="3800" dirty="0"/>
          </a:p>
        </p:txBody>
      </p:sp>
      <p:sp>
        <p:nvSpPr>
          <p:cNvPr id="3" name="Text 1"/>
          <p:cNvSpPr txBox="1"/>
          <p:nvPr/>
        </p:nvSpPr>
        <p:spPr>
          <a:xfrm>
            <a:off x="640080" y="1463040"/>
            <a:ext cx="5669280" cy="502920"/>
          </a:xfrm>
          <a:prstGeom prst="rect">
            <a:avLst/>
          </a:prstGeom>
          <a:noFill/>
          <a:ln/>
        </p:spPr>
        <p:txBody>
          <a:bodyPr wrap="square" lIns="0" tIns="0" rIns="0" bIns="0" rtlCol="0" anchor="ctr"/>
          <a:lstStyle/>
          <a:p>
            <a:pPr indent="0" marL="0">
              <a:lnSpc>
                <a:spcPct val="130000"/>
              </a:lnSpc>
              <a:buNone/>
            </a:pPr>
            <a:r>
              <a:rPr lang="en-US" sz="1300" dirty="0">
                <a:solidFill>
                  <a:srgbClr val="3A3A38"/>
                </a:solidFill>
                <a:latin typeface="Calibri" pitchFamily="34" charset="0"/>
                <a:ea typeface="Calibri" pitchFamily="34" charset="-122"/>
                <a:cs typeface="Calibri" pitchFamily="34" charset="-120"/>
              </a:rPr>
              <a:t>Walk in, call ahead, or scan the code to book online — we look forward to welcoming you.</a:t>
            </a:r>
            <a:endParaRPr lang="en-US" sz="1300" dirty="0"/>
          </a:p>
        </p:txBody>
      </p:sp>
      <p:sp>
        <p:nvSpPr>
          <p:cNvPr id="4" name="Text 2"/>
          <p:cNvSpPr txBox="1"/>
          <p:nvPr/>
        </p:nvSpPr>
        <p:spPr>
          <a:xfrm>
            <a:off x="640080" y="2148840"/>
            <a:ext cx="5303520" cy="274320"/>
          </a:xfrm>
          <a:prstGeom prst="rect">
            <a:avLst/>
          </a:prstGeom>
          <a:noFill/>
          <a:ln/>
        </p:spPr>
        <p:txBody>
          <a:bodyPr wrap="square" lIns="0" tIns="0" rIns="0" bIns="0" rtlCol="0" anchor="ctr"/>
          <a:lstStyle/>
          <a:p>
            <a:pPr indent="0" marL="0">
              <a:buNone/>
            </a:pPr>
            <a:r>
              <a:rPr lang="en-US" sz="1100" b="1" spc="200" kern="0" dirty="0">
                <a:solidFill>
                  <a:srgbClr val="86691A"/>
                </a:solidFill>
                <a:latin typeface="Calibri" pitchFamily="34" charset="0"/>
                <a:ea typeface="Calibri" pitchFamily="34" charset="-122"/>
                <a:cs typeface="Calibri" pitchFamily="34" charset="-120"/>
              </a:rPr>
              <a:t>LOCATION</a:t>
            </a:r>
            <a:endParaRPr lang="en-US" sz="1100" dirty="0"/>
          </a:p>
        </p:txBody>
      </p:sp>
      <p:sp>
        <p:nvSpPr>
          <p:cNvPr id="5" name="Text 3"/>
          <p:cNvSpPr txBox="1"/>
          <p:nvPr/>
        </p:nvSpPr>
        <p:spPr>
          <a:xfrm>
            <a:off x="640080" y="2441448"/>
            <a:ext cx="5303520" cy="365760"/>
          </a:xfrm>
          <a:prstGeom prst="rect">
            <a:avLst/>
          </a:prstGeom>
          <a:noFill/>
          <a:ln/>
        </p:spPr>
        <p:txBody>
          <a:bodyPr wrap="square" lIns="0" tIns="0" rIns="0" bIns="0" rtlCol="0" anchor="ctr"/>
          <a:lstStyle/>
          <a:p>
            <a:pPr indent="0" marL="0">
              <a:lnSpc>
                <a:spcPct val="120000"/>
              </a:lnSpc>
              <a:buNone/>
            </a:pPr>
            <a:r>
              <a:rPr lang="en-US" sz="1500" dirty="0">
                <a:solidFill>
                  <a:srgbClr val="1B1A18"/>
                </a:solidFill>
                <a:latin typeface="Cambria" pitchFamily="34" charset="0"/>
                <a:ea typeface="Cambria" pitchFamily="34" charset="-122"/>
                <a:cs typeface="Cambria" pitchFamily="34" charset="-120"/>
              </a:rPr>
              <a:t>Oli Building, 2nd Floor, near NNC Sales, Gelephu, Bhutan</a:t>
            </a:r>
            <a:endParaRPr lang="en-US" sz="1500" dirty="0"/>
          </a:p>
        </p:txBody>
      </p:sp>
      <p:sp>
        <p:nvSpPr>
          <p:cNvPr id="6" name="Text 4"/>
          <p:cNvSpPr txBox="1"/>
          <p:nvPr/>
        </p:nvSpPr>
        <p:spPr>
          <a:xfrm>
            <a:off x="640080" y="2880360"/>
            <a:ext cx="5303520" cy="274320"/>
          </a:xfrm>
          <a:prstGeom prst="rect">
            <a:avLst/>
          </a:prstGeom>
          <a:noFill/>
          <a:ln/>
        </p:spPr>
        <p:txBody>
          <a:bodyPr wrap="square" lIns="0" tIns="0" rIns="0" bIns="0" rtlCol="0" anchor="ctr"/>
          <a:lstStyle/>
          <a:p>
            <a:pPr indent="0" marL="0">
              <a:buNone/>
            </a:pPr>
            <a:r>
              <a:rPr lang="en-US" sz="1100" b="1" spc="200" kern="0" dirty="0">
                <a:solidFill>
                  <a:srgbClr val="86691A"/>
                </a:solidFill>
                <a:latin typeface="Calibri" pitchFamily="34" charset="0"/>
                <a:ea typeface="Calibri" pitchFamily="34" charset="-122"/>
                <a:cs typeface="Calibri" pitchFamily="34" charset="-120"/>
              </a:rPr>
              <a:t>CONTACT</a:t>
            </a:r>
            <a:endParaRPr lang="en-US" sz="1100" dirty="0"/>
          </a:p>
        </p:txBody>
      </p:sp>
      <p:sp>
        <p:nvSpPr>
          <p:cNvPr id="7" name="Text 5"/>
          <p:cNvSpPr txBox="1"/>
          <p:nvPr/>
        </p:nvSpPr>
        <p:spPr>
          <a:xfrm>
            <a:off x="640080" y="3172968"/>
            <a:ext cx="5303520" cy="640080"/>
          </a:xfrm>
          <a:prstGeom prst="rect">
            <a:avLst/>
          </a:prstGeom>
          <a:noFill/>
          <a:ln/>
        </p:spPr>
        <p:txBody>
          <a:bodyPr wrap="square" lIns="0" tIns="0" rIns="0" bIns="0" rtlCol="0" anchor="ctr"/>
          <a:lstStyle/>
          <a:p>
            <a:pPr indent="0" marL="0">
              <a:lnSpc>
                <a:spcPct val="120000"/>
              </a:lnSpc>
              <a:buNone/>
            </a:pPr>
            <a:r>
              <a:rPr lang="en-US" sz="1500" dirty="0">
                <a:solidFill>
                  <a:srgbClr val="1B1A18"/>
                </a:solidFill>
                <a:latin typeface="Cambria" pitchFamily="34" charset="0"/>
                <a:ea typeface="Cambria" pitchFamily="34" charset="-122"/>
                <a:cs typeface="Cambria" pitchFamily="34" charset="-120"/>
              </a:rPr>
              <a:t>+975 7770 6348   /   +975 1780 7066</a:t>
            </a:r>
            <a:endParaRPr lang="en-US" sz="1500" dirty="0"/>
          </a:p>
          <a:p>
            <a:pPr indent="0" marL="0">
              <a:lnSpc>
                <a:spcPct val="120000"/>
              </a:lnSpc>
              <a:buNone/>
            </a:pPr>
            <a:r>
              <a:rPr lang="en-US" sz="1500" dirty="0">
                <a:solidFill>
                  <a:srgbClr val="1B1A18"/>
                </a:solidFill>
                <a:latin typeface="Cambria" pitchFamily="34" charset="0"/>
                <a:ea typeface="Cambria" pitchFamily="34" charset="-122"/>
                <a:cs typeface="Cambria" pitchFamily="34" charset="-120"/>
              </a:rPr>
              <a:t>hello@kuenphenbeautyspa.com</a:t>
            </a:r>
            <a:endParaRPr lang="en-US" sz="1500" dirty="0"/>
          </a:p>
        </p:txBody>
      </p:sp>
      <p:sp>
        <p:nvSpPr>
          <p:cNvPr id="8" name="Text 6"/>
          <p:cNvSpPr txBox="1"/>
          <p:nvPr/>
        </p:nvSpPr>
        <p:spPr>
          <a:xfrm>
            <a:off x="640080" y="3794760"/>
            <a:ext cx="5303520" cy="274320"/>
          </a:xfrm>
          <a:prstGeom prst="rect">
            <a:avLst/>
          </a:prstGeom>
          <a:noFill/>
          <a:ln/>
        </p:spPr>
        <p:txBody>
          <a:bodyPr wrap="square" lIns="0" tIns="0" rIns="0" bIns="0" rtlCol="0" anchor="ctr"/>
          <a:lstStyle/>
          <a:p>
            <a:pPr indent="0" marL="0">
              <a:buNone/>
            </a:pPr>
            <a:r>
              <a:rPr lang="en-US" sz="1100" b="1" spc="200" kern="0" dirty="0">
                <a:solidFill>
                  <a:srgbClr val="86691A"/>
                </a:solidFill>
                <a:latin typeface="Calibri" pitchFamily="34" charset="0"/>
                <a:ea typeface="Calibri" pitchFamily="34" charset="-122"/>
                <a:cs typeface="Calibri" pitchFamily="34" charset="-120"/>
              </a:rPr>
              <a:t>OPENING HOURS</a:t>
            </a:r>
            <a:endParaRPr lang="en-US" sz="1100" dirty="0"/>
          </a:p>
        </p:txBody>
      </p:sp>
      <p:sp>
        <p:nvSpPr>
          <p:cNvPr id="9" name="Text 7"/>
          <p:cNvSpPr txBox="1"/>
          <p:nvPr/>
        </p:nvSpPr>
        <p:spPr>
          <a:xfrm>
            <a:off x="640080" y="4087368"/>
            <a:ext cx="2743200" cy="320040"/>
          </a:xfrm>
          <a:prstGeom prst="rect">
            <a:avLst/>
          </a:prstGeom>
          <a:noFill/>
          <a:ln/>
        </p:spPr>
        <p:txBody>
          <a:bodyPr wrap="square" lIns="0" tIns="0" rIns="0" bIns="0" rtlCol="0" anchor="ctr"/>
          <a:lstStyle/>
          <a:p>
            <a:pPr indent="0" marL="0">
              <a:buNone/>
            </a:pPr>
            <a:r>
              <a:rPr lang="en-US" sz="1500" dirty="0">
                <a:solidFill>
                  <a:srgbClr val="1B1A18"/>
                </a:solidFill>
                <a:latin typeface="Cambria" pitchFamily="34" charset="0"/>
                <a:ea typeface="Cambria" pitchFamily="34" charset="-122"/>
                <a:cs typeface="Cambria" pitchFamily="34" charset="-120"/>
              </a:rPr>
              <a:t>Open Every Day</a:t>
            </a:r>
            <a:endParaRPr lang="en-US" sz="1500" dirty="0"/>
          </a:p>
        </p:txBody>
      </p:sp>
      <p:sp>
        <p:nvSpPr>
          <p:cNvPr id="10" name="Text 8"/>
          <p:cNvSpPr txBox="1"/>
          <p:nvPr/>
        </p:nvSpPr>
        <p:spPr>
          <a:xfrm>
            <a:off x="3200400" y="4087368"/>
            <a:ext cx="2743200" cy="320040"/>
          </a:xfrm>
          <a:prstGeom prst="rect">
            <a:avLst/>
          </a:prstGeom>
          <a:noFill/>
          <a:ln/>
        </p:spPr>
        <p:txBody>
          <a:bodyPr wrap="square" lIns="0" tIns="0" rIns="0" bIns="0" rtlCol="0" anchor="ctr"/>
          <a:lstStyle/>
          <a:p>
            <a:pPr algn="r" indent="0" marL="0">
              <a:buNone/>
            </a:pPr>
            <a:r>
              <a:rPr lang="en-US" sz="1500" dirty="0">
                <a:solidFill>
                  <a:srgbClr val="1B1A18"/>
                </a:solidFill>
                <a:latin typeface="Cambria" pitchFamily="34" charset="0"/>
                <a:ea typeface="Cambria" pitchFamily="34" charset="-122"/>
                <a:cs typeface="Cambria" pitchFamily="34" charset="-120"/>
              </a:rPr>
              <a:t>10:00 AM – 8:00 PM</a:t>
            </a:r>
            <a:endParaRPr lang="en-US" sz="1500" dirty="0"/>
          </a:p>
        </p:txBody>
      </p:sp>
      <p:sp>
        <p:nvSpPr>
          <p:cNvPr id="11" name="Shape 9"/>
          <p:cNvSpPr/>
          <p:nvPr/>
        </p:nvSpPr>
        <p:spPr>
          <a:xfrm>
            <a:off x="640080" y="4443984"/>
            <a:ext cx="5303520" cy="0"/>
          </a:xfrm>
          <a:prstGeom prst="line">
            <a:avLst/>
          </a:prstGeom>
          <a:noFill/>
          <a:ln w="12700">
            <a:solidFill>
              <a:srgbClr val="F2EDE4"/>
            </a:solidFill>
            <a:prstDash val="solid"/>
          </a:ln>
        </p:spPr>
      </p:sp>
      <p:sp>
        <p:nvSpPr>
          <p:cNvPr id="12" name="Text 10"/>
          <p:cNvSpPr txBox="1"/>
          <p:nvPr/>
        </p:nvSpPr>
        <p:spPr>
          <a:xfrm>
            <a:off x="640080" y="4617720"/>
            <a:ext cx="5303520" cy="274320"/>
          </a:xfrm>
          <a:prstGeom prst="rect">
            <a:avLst/>
          </a:prstGeom>
          <a:noFill/>
          <a:ln/>
        </p:spPr>
        <p:txBody>
          <a:bodyPr wrap="square" lIns="0" tIns="0" rIns="0" bIns="0" rtlCol="0" anchor="ctr"/>
          <a:lstStyle/>
          <a:p>
            <a:pPr indent="0" marL="0">
              <a:buNone/>
            </a:pPr>
            <a:r>
              <a:rPr lang="en-US" sz="1100" b="1" spc="200" kern="0" dirty="0">
                <a:solidFill>
                  <a:srgbClr val="86691A"/>
                </a:solidFill>
                <a:latin typeface="Calibri" pitchFamily="34" charset="0"/>
                <a:ea typeface="Calibri" pitchFamily="34" charset="-122"/>
                <a:cs typeface="Calibri" pitchFamily="34" charset="-120"/>
              </a:rPr>
              <a:t>STARTING PRICES</a:t>
            </a:r>
            <a:endParaRPr lang="en-US" sz="1100" dirty="0"/>
          </a:p>
        </p:txBody>
      </p:sp>
      <p:sp>
        <p:nvSpPr>
          <p:cNvPr id="13" name="Text 11"/>
          <p:cNvSpPr txBox="1"/>
          <p:nvPr/>
        </p:nvSpPr>
        <p:spPr>
          <a:xfrm>
            <a:off x="640080" y="4937760"/>
            <a:ext cx="2651760" cy="274320"/>
          </a:xfrm>
          <a:prstGeom prst="rect">
            <a:avLst/>
          </a:prstGeom>
          <a:noFill/>
          <a:ln/>
        </p:spPr>
        <p:txBody>
          <a:bodyPr wrap="square" lIns="0" tIns="0" rIns="0" bIns="0" rtlCol="0" anchor="ctr"/>
          <a:lstStyle/>
          <a:p>
            <a:pPr indent="0" marL="0">
              <a:buNone/>
            </a:pPr>
            <a:r>
              <a:rPr lang="en-US" sz="1400" dirty="0">
                <a:solidFill>
                  <a:srgbClr val="1B1A18"/>
                </a:solidFill>
                <a:latin typeface="Cambria" pitchFamily="34" charset="0"/>
                <a:ea typeface="Cambria" pitchFamily="34" charset="-122"/>
                <a:cs typeface="Cambria" pitchFamily="34" charset="-120"/>
              </a:rPr>
              <a:t>Massage  </a:t>
            </a:r>
            <a:pPr indent="0" marL="0">
              <a:buNone/>
            </a:pPr>
            <a:r>
              <a:rPr lang="en-US" sz="1050" dirty="0">
                <a:solidFill>
                  <a:srgbClr val="86691A"/>
                </a:solidFill>
                <a:latin typeface="Calibri" pitchFamily="34" charset="0"/>
                <a:ea typeface="Calibri" pitchFamily="34" charset="-122"/>
                <a:cs typeface="Calibri" pitchFamily="34" charset="-120"/>
              </a:rPr>
              <a:t>from Nu. 500</a:t>
            </a:r>
            <a:endParaRPr lang="en-US" sz="1400" dirty="0"/>
          </a:p>
        </p:txBody>
      </p:sp>
      <p:sp>
        <p:nvSpPr>
          <p:cNvPr id="14" name="Text 12"/>
          <p:cNvSpPr txBox="1"/>
          <p:nvPr/>
        </p:nvSpPr>
        <p:spPr>
          <a:xfrm>
            <a:off x="3383280" y="4937760"/>
            <a:ext cx="2651760" cy="274320"/>
          </a:xfrm>
          <a:prstGeom prst="rect">
            <a:avLst/>
          </a:prstGeom>
          <a:noFill/>
          <a:ln/>
        </p:spPr>
        <p:txBody>
          <a:bodyPr wrap="square" lIns="0" tIns="0" rIns="0" bIns="0" rtlCol="0" anchor="ctr"/>
          <a:lstStyle/>
          <a:p>
            <a:pPr indent="0" marL="0">
              <a:buNone/>
            </a:pPr>
            <a:r>
              <a:rPr lang="en-US" sz="1400" dirty="0">
                <a:solidFill>
                  <a:srgbClr val="1B1A18"/>
                </a:solidFill>
                <a:latin typeface="Cambria" pitchFamily="34" charset="0"/>
                <a:ea typeface="Cambria" pitchFamily="34" charset="-122"/>
                <a:cs typeface="Cambria" pitchFamily="34" charset="-120"/>
              </a:rPr>
              <a:t>Facial  </a:t>
            </a:r>
            <a:pPr indent="0" marL="0">
              <a:buNone/>
            </a:pPr>
            <a:r>
              <a:rPr lang="en-US" sz="1050" dirty="0">
                <a:solidFill>
                  <a:srgbClr val="86691A"/>
                </a:solidFill>
                <a:latin typeface="Calibri" pitchFamily="34" charset="0"/>
                <a:ea typeface="Calibri" pitchFamily="34" charset="-122"/>
                <a:cs typeface="Calibri" pitchFamily="34" charset="-120"/>
              </a:rPr>
              <a:t>from Nu. 600</a:t>
            </a:r>
            <a:endParaRPr lang="en-US" sz="1400" dirty="0"/>
          </a:p>
        </p:txBody>
      </p:sp>
      <p:sp>
        <p:nvSpPr>
          <p:cNvPr id="15" name="Text 13"/>
          <p:cNvSpPr txBox="1"/>
          <p:nvPr/>
        </p:nvSpPr>
        <p:spPr>
          <a:xfrm>
            <a:off x="640080" y="5257800"/>
            <a:ext cx="2651760" cy="274320"/>
          </a:xfrm>
          <a:prstGeom prst="rect">
            <a:avLst/>
          </a:prstGeom>
          <a:noFill/>
          <a:ln/>
        </p:spPr>
        <p:txBody>
          <a:bodyPr wrap="square" lIns="0" tIns="0" rIns="0" bIns="0" rtlCol="0" anchor="ctr"/>
          <a:lstStyle/>
          <a:p>
            <a:pPr indent="0" marL="0">
              <a:buNone/>
            </a:pPr>
            <a:r>
              <a:rPr lang="en-US" sz="1400" dirty="0">
                <a:solidFill>
                  <a:srgbClr val="1B1A18"/>
                </a:solidFill>
                <a:latin typeface="Cambria" pitchFamily="34" charset="0"/>
                <a:ea typeface="Cambria" pitchFamily="34" charset="-122"/>
                <a:cs typeface="Cambria" pitchFamily="34" charset="-120"/>
              </a:rPr>
              <a:t>Body Spa  </a:t>
            </a:r>
            <a:pPr indent="0" marL="0">
              <a:buNone/>
            </a:pPr>
            <a:r>
              <a:rPr lang="en-US" sz="1050" dirty="0">
                <a:solidFill>
                  <a:srgbClr val="86691A"/>
                </a:solidFill>
                <a:latin typeface="Calibri" pitchFamily="34" charset="0"/>
                <a:ea typeface="Calibri" pitchFamily="34" charset="-122"/>
                <a:cs typeface="Calibri" pitchFamily="34" charset="-120"/>
              </a:rPr>
              <a:t>from Nu. 1,500</a:t>
            </a:r>
            <a:endParaRPr lang="en-US" sz="1400" dirty="0"/>
          </a:p>
        </p:txBody>
      </p:sp>
      <p:sp>
        <p:nvSpPr>
          <p:cNvPr id="16" name="Text 14"/>
          <p:cNvSpPr txBox="1"/>
          <p:nvPr/>
        </p:nvSpPr>
        <p:spPr>
          <a:xfrm>
            <a:off x="3383280" y="5257800"/>
            <a:ext cx="2651760" cy="274320"/>
          </a:xfrm>
          <a:prstGeom prst="rect">
            <a:avLst/>
          </a:prstGeom>
          <a:noFill/>
          <a:ln/>
        </p:spPr>
        <p:txBody>
          <a:bodyPr wrap="square" lIns="0" tIns="0" rIns="0" bIns="0" rtlCol="0" anchor="ctr"/>
          <a:lstStyle/>
          <a:p>
            <a:pPr indent="0" marL="0">
              <a:buNone/>
            </a:pPr>
            <a:r>
              <a:rPr lang="en-US" sz="1400" dirty="0">
                <a:solidFill>
                  <a:srgbClr val="1B1A18"/>
                </a:solidFill>
                <a:latin typeface="Cambria" pitchFamily="34" charset="0"/>
                <a:ea typeface="Cambria" pitchFamily="34" charset="-122"/>
                <a:cs typeface="Cambria" pitchFamily="34" charset="-120"/>
              </a:rPr>
              <a:t>Waxing  </a:t>
            </a:r>
            <a:pPr indent="0" marL="0">
              <a:buNone/>
            </a:pPr>
            <a:r>
              <a:rPr lang="en-US" sz="1050" dirty="0">
                <a:solidFill>
                  <a:srgbClr val="86691A"/>
                </a:solidFill>
                <a:latin typeface="Calibri" pitchFamily="34" charset="0"/>
                <a:ea typeface="Calibri" pitchFamily="34" charset="-122"/>
                <a:cs typeface="Calibri" pitchFamily="34" charset="-120"/>
              </a:rPr>
              <a:t>from Nu. 100</a:t>
            </a:r>
            <a:endParaRPr lang="en-US" sz="1400" dirty="0"/>
          </a:p>
        </p:txBody>
      </p:sp>
      <p:sp>
        <p:nvSpPr>
          <p:cNvPr id="17" name="Text 15"/>
          <p:cNvSpPr txBox="1"/>
          <p:nvPr/>
        </p:nvSpPr>
        <p:spPr>
          <a:xfrm>
            <a:off x="640080" y="5577840"/>
            <a:ext cx="2651760" cy="274320"/>
          </a:xfrm>
          <a:prstGeom prst="rect">
            <a:avLst/>
          </a:prstGeom>
          <a:noFill/>
          <a:ln/>
        </p:spPr>
        <p:txBody>
          <a:bodyPr wrap="square" lIns="0" tIns="0" rIns="0" bIns="0" rtlCol="0" anchor="ctr"/>
          <a:lstStyle/>
          <a:p>
            <a:pPr indent="0" marL="0">
              <a:buNone/>
            </a:pPr>
            <a:r>
              <a:rPr lang="en-US" sz="1400" dirty="0">
                <a:solidFill>
                  <a:srgbClr val="1B1A18"/>
                </a:solidFill>
                <a:latin typeface="Cambria" pitchFamily="34" charset="0"/>
                <a:ea typeface="Cambria" pitchFamily="34" charset="-122"/>
                <a:cs typeface="Cambria" pitchFamily="34" charset="-120"/>
              </a:rPr>
              <a:t>Manicure  </a:t>
            </a:r>
            <a:pPr indent="0" marL="0">
              <a:buNone/>
            </a:pPr>
            <a:r>
              <a:rPr lang="en-US" sz="1050" dirty="0">
                <a:solidFill>
                  <a:srgbClr val="86691A"/>
                </a:solidFill>
                <a:latin typeface="Calibri" pitchFamily="34" charset="0"/>
                <a:ea typeface="Calibri" pitchFamily="34" charset="-122"/>
                <a:cs typeface="Calibri" pitchFamily="34" charset="-120"/>
              </a:rPr>
              <a:t>from Nu. 600</a:t>
            </a:r>
            <a:endParaRPr lang="en-US" sz="1400" dirty="0"/>
          </a:p>
        </p:txBody>
      </p:sp>
      <p:sp>
        <p:nvSpPr>
          <p:cNvPr id="18" name="Text 16"/>
          <p:cNvSpPr txBox="1"/>
          <p:nvPr/>
        </p:nvSpPr>
        <p:spPr>
          <a:xfrm>
            <a:off x="3383280" y="5577840"/>
            <a:ext cx="2651760" cy="274320"/>
          </a:xfrm>
          <a:prstGeom prst="rect">
            <a:avLst/>
          </a:prstGeom>
          <a:noFill/>
          <a:ln/>
        </p:spPr>
        <p:txBody>
          <a:bodyPr wrap="square" lIns="0" tIns="0" rIns="0" bIns="0" rtlCol="0" anchor="ctr"/>
          <a:lstStyle/>
          <a:p>
            <a:pPr indent="0" marL="0">
              <a:buNone/>
            </a:pPr>
            <a:r>
              <a:rPr lang="en-US" sz="1400" dirty="0">
                <a:solidFill>
                  <a:srgbClr val="1B1A18"/>
                </a:solidFill>
                <a:latin typeface="Cambria" pitchFamily="34" charset="0"/>
                <a:ea typeface="Cambria" pitchFamily="34" charset="-122"/>
                <a:cs typeface="Cambria" pitchFamily="34" charset="-120"/>
              </a:rPr>
              <a:t>Pedicure  </a:t>
            </a:r>
            <a:pPr indent="0" marL="0">
              <a:buNone/>
            </a:pPr>
            <a:r>
              <a:rPr lang="en-US" sz="1050" dirty="0">
                <a:solidFill>
                  <a:srgbClr val="86691A"/>
                </a:solidFill>
                <a:latin typeface="Calibri" pitchFamily="34" charset="0"/>
                <a:ea typeface="Calibri" pitchFamily="34" charset="-122"/>
                <a:cs typeface="Calibri" pitchFamily="34" charset="-120"/>
              </a:rPr>
              <a:t>from Nu. 700</a:t>
            </a:r>
            <a:endParaRPr lang="en-US" sz="1400" dirty="0"/>
          </a:p>
        </p:txBody>
      </p:sp>
      <p:pic>
        <p:nvPicPr>
          <p:cNvPr id="19" name="Image 0" descr="/tmp/claude-0/-home-user-KBSpa/fba49096-d8c8-5016-bfa2-c752ed8a675b/scratchpad/brochure/photos/logo.png">    </p:cNvPr>
          <p:cNvPicPr>
            <a:picLocks noChangeAspect="1"/>
          </p:cNvPicPr>
          <p:nvPr/>
        </p:nvPicPr>
        <p:blipFill>
          <a:blip r:embed="rId1"/>
          <a:stretch>
            <a:fillRect/>
          </a:stretch>
        </p:blipFill>
        <p:spPr>
          <a:xfrm>
            <a:off x="9052560" y="914400"/>
            <a:ext cx="822960" cy="822960"/>
          </a:xfrm>
          <a:prstGeom prst="rect">
            <a:avLst/>
          </a:prstGeom>
        </p:spPr>
      </p:pic>
      <p:sp>
        <p:nvSpPr>
          <p:cNvPr id="20" name="Text 17"/>
          <p:cNvSpPr txBox="1"/>
          <p:nvPr/>
        </p:nvSpPr>
        <p:spPr>
          <a:xfrm>
            <a:off x="7772400" y="1828800"/>
            <a:ext cx="3474720" cy="365760"/>
          </a:xfrm>
          <a:prstGeom prst="rect">
            <a:avLst/>
          </a:prstGeom>
          <a:noFill/>
          <a:ln/>
        </p:spPr>
        <p:txBody>
          <a:bodyPr wrap="square" lIns="0" tIns="0" rIns="0" bIns="0" rtlCol="0" anchor="ctr"/>
          <a:lstStyle/>
          <a:p>
            <a:pPr algn="ctr" indent="0" marL="0">
              <a:buNone/>
            </a:pPr>
            <a:r>
              <a:rPr lang="en-US" sz="1500" i="1" dirty="0">
                <a:solidFill>
                  <a:srgbClr val="86691A"/>
                </a:solidFill>
                <a:latin typeface="Cambria" pitchFamily="34" charset="0"/>
                <a:ea typeface="Cambria" pitchFamily="34" charset="-122"/>
                <a:cs typeface="Cambria" pitchFamily="34" charset="-120"/>
              </a:rPr>
              <a:t>Scan to book online</a:t>
            </a:r>
            <a:endParaRPr lang="en-US" sz="1500" dirty="0"/>
          </a:p>
        </p:txBody>
      </p:sp>
      <p:sp>
        <p:nvSpPr>
          <p:cNvPr id="21" name="Shape 18"/>
          <p:cNvSpPr/>
          <p:nvPr/>
        </p:nvSpPr>
        <p:spPr>
          <a:xfrm>
            <a:off x="8385048" y="2286000"/>
            <a:ext cx="2249424" cy="2249424"/>
          </a:xfrm>
          <a:prstGeom prst="roundRect">
            <a:avLst>
              <a:gd name="adj" fmla="val 4878"/>
            </a:avLst>
          </a:prstGeom>
          <a:solidFill>
            <a:srgbClr val="FDFCFA"/>
          </a:solidFill>
          <a:ln w="12700">
            <a:solidFill>
              <a:srgbClr val="F2EDE4"/>
            </a:solidFill>
            <a:prstDash val="solid"/>
          </a:ln>
        </p:spPr>
      </p:sp>
      <p:pic>
        <p:nvPicPr>
          <p:cNvPr id="22" name="Image 1" descr="/tmp/claude-0/-home-user-KBSpa/fba49096-d8c8-5016-bfa2-c752ed8a675b/scratchpad/brochure/photos/qr.png">    </p:cNvPr>
          <p:cNvPicPr>
            <a:picLocks noChangeAspect="1"/>
          </p:cNvPicPr>
          <p:nvPr/>
        </p:nvPicPr>
        <p:blipFill>
          <a:blip r:embed="rId2"/>
          <a:stretch>
            <a:fillRect/>
          </a:stretch>
        </p:blipFill>
        <p:spPr>
          <a:xfrm>
            <a:off x="8567928" y="2468880"/>
            <a:ext cx="1883664" cy="1883664"/>
          </a:xfrm>
          <a:prstGeom prst="rect">
            <a:avLst/>
          </a:prstGeom>
        </p:spPr>
      </p:pic>
      <p:sp>
        <p:nvSpPr>
          <p:cNvPr id="23" name="Text 1"/>
          <p:cNvSpPr/>
          <p:nvPr>
            <p:ph idx="101" type="body" hasCustomPrompt="1"/>
          </p:nvPr>
        </p:nvSpPr>
        <p:spPr>
          <a:xfrm>
            <a:off x="640080" y="6419088"/>
            <a:ext cx="7315200" cy="274320"/>
          </a:xfrm>
          <a:prstGeom prst="rect">
            <a:avLst/>
          </a:prstGeom>
          <a:noFill/>
          <a:ln/>
        </p:spPr>
        <p:txBody>
          <a:bodyPr wrap="square" rtlCol="0" anchor="ctr"/>
          <a:lstStyle/>
          <a:p>
            <a:pPr indent="0" marL="0">
              <a:buNone/>
            </a:pPr>
            <a:endParaRPr lang="en-US" sz="900" dirty="0"/>
          </a:p>
        </p:txBody>
      </p:sp>
      <p:sp>
        <p:nvSpPr>
          <p:cNvPr id="24" name="Text 1"/>
          <p:cNvSpPr/>
          <p:nvPr>
            <p:ph idx="102" type="body" hasCustomPrompt="1"/>
          </p:nvPr>
        </p:nvSpPr>
        <p:spPr>
          <a:xfrm>
            <a:off x="8808415" y="6419088"/>
            <a:ext cx="2743200" cy="274320"/>
          </a:xfrm>
          <a:prstGeom prst="rect">
            <a:avLst/>
          </a:prstGeom>
          <a:noFill/>
          <a:ln/>
        </p:spPr>
        <p:txBody>
          <a:bodyPr wrap="square" rtlCol="0" anchor="ctr"/>
          <a:lstStyle/>
          <a:p>
            <a:pPr algn="r" indent="0" marL="0">
              <a:buNone/>
            </a:pPr>
            <a:endParaRPr lang="en-US" sz="900" dirty="0"/>
          </a:p>
        </p:txBody>
      </p:sp>
    </p:spTree>
  </p:cSld>
  <p:clrMapOvr>
    <a:masterClrMapping/>
  </p:clrMapOvr>
</p:sld>
</file>

<file path=ppt/theme/theme1.xml><?xml version="1.0" encoding="utf-8"?>
<a:theme xmlns:a="http://schemas.openxmlformats.org/drawingml/2006/main" name="Kuenphen Beauty Spa">
  <a:themeElements>
    <a:clrScheme name="Kuenphen Beauty Spa">
      <a:dk1>
        <a:srgbClr val="1B1A18"/>
      </a:dk1>
      <a:lt1>
        <a:srgbClr val="FDFCFA"/>
      </a:lt1>
      <a:dk2>
        <a:srgbClr val="86691A"/>
      </a:dk2>
      <a:lt2>
        <a:srgbClr val="F2EDE4"/>
      </a:lt2>
      <a:accent1>
        <a:srgbClr val="C9A227"/>
      </a:accent1>
      <a:accent2>
        <a:srgbClr val="55613D"/>
      </a:accent2>
      <a:accent3>
        <a:srgbClr val="F1DCD6"/>
      </a:accent3>
      <a:accent4>
        <a:srgbClr val="3A3A38"/>
      </a:accent4>
      <a:accent5>
        <a:srgbClr val="E9EBE0"/>
      </a:accent5>
      <a:accent6>
        <a:srgbClr val="F5EDCE"/>
      </a:accent6>
      <a:hlink>
        <a:srgbClr val="C9A227"/>
      </a:hlink>
      <a:folHlink>
        <a:srgbClr val="86691A"/>
      </a:folHlink>
    </a:clrScheme>
    <a:fontScheme name="Kuenphen Beauty Sp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2026-10-18T10:20:09Z</dcterms:created>
  <dcterms:modified xsi:type="dcterms:W3CDTF">2026-10-18T10:20:09Z</dcterms:modified>
</cp:coreProperties>
</file>